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charts/chart1.xml" ContentType="application/vnd.openxmlformats-officedocument.drawingml.chart+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03A"/>
                </a:solidFill>
                <a:latin typeface="Calibri"/>
              </a:defRPr>
            </a:pPr>
            <a:r>
              <a:rPr sz="1400" b="0" i="0" u="none" strike="noStrike">
                <a:solidFill>
                  <a:srgbClr val="16203A"/>
                </a:solidFill>
                <a:latin typeface="Calibri"/>
              </a:rPr>
              <a:t>Year with a 50% chance of human-level AI, by survey</a:t>
            </a:r>
          </a:p>
        </c:rich>
      </c:tx>
      <c:layout/>
      <c:overlay val="0"/>
    </c:title>
    <c:autoTitleDeleted val="0"/>
    <c:plotArea>
      <c:layout/>
      <c:lineChart>
        <c:varyColors val="0"/>
        <c:ser>
          <c:idx val="0"/>
          <c:order val="0"/>
          <c:tx>
            <c:strRef>
              <c:f>Sheet1!$B$1</c:f>
              <c:strCache>
                <c:ptCount val="1"/>
                <c:pt idx="0">
                  <c:v>50% forecast year</c:v>
                </c:pt>
              </c:strCache>
            </c:strRef>
          </c:tx>
          <c:spPr>
            <a:solidFill>
              <a:srgbClr val="1B2A6B"/>
            </a:solidFill>
            <a:ln w="38100" cap="flat">
              <a:solidFill>
                <a:srgbClr val="1B2A6B"/>
              </a:solidFill>
              <a:prstDash val="solid"/>
              <a:round/>
            </a:ln>
            <a:effectLst/>
          </c:spPr>
          <c:invertIfNegative val="0"/>
          <c:dLbls>
            <c:numFmt formatCode="0" sourceLinked="0"/>
            <c:txPr>
              <a:bodyPr/>
              <a:lstStyle/>
              <a:p>
                <a:pPr>
                  <a:defRPr b="0" i="0" strike="noStrike" sz="1400" u="none">
                    <a:solidFill>
                      <a:srgbClr val="16203A"/>
                    </a:solidFill>
                    <a:latin typeface="Calibri"/>
                  </a:defRPr>
                </a:pPr>
              </a:p>
            </c:txPr>
            <c:dLblPos val="t"/>
            <c:showLegendKey val="0"/>
            <c:showVal val="1"/>
            <c:showCatName val="0"/>
            <c:showSerName val="0"/>
            <c:showPercent val="0"/>
            <c:showBubbleSize val="0"/>
            <c:showLeaderLines val="0"/>
          </c:dLbls>
          <c:marker>
            <c:symbol val="circle"/>
            <c:size val="8"/>
            <c:spPr>
              <a:solidFill>
                <a:srgbClr val="1B2A6B"/>
              </a:solidFill>
              <a:ln w="9525" cap="flat">
                <a:solidFill>
                  <a:srgbClr val="1B2A6B"/>
                </a:solidFill>
                <a:prstDash val="solid"/>
                <a:round/>
              </a:ln>
              <a:effectLst/>
            </c:spPr>
          </c:marker>
          <c:cat>
            <c:multiLvlStrRef>
              <c:f>Sheet1!$A$2:$A$5</c:f>
              <c:multiLvlStrCache>
                <c:ptCount val="4"/>
                <c:lvl>
                  <c:pt idx="0">
                    <c:v>2016 survey</c:v>
                  </c:pt>
                  <c:pt idx="1">
                    <c:v>2022 survey</c:v>
                  </c:pt>
                  <c:pt idx="2">
                    <c:v>2023 survey</c:v>
                  </c:pt>
                  <c:pt idx="3">
                    <c:v>2024 survey</c:v>
                  </c:pt>
                </c:lvl>
              </c:multiLvlStrCache>
            </c:multiLvlStrRef>
          </c:cat>
          <c:val>
            <c:numRef>
              <c:f>Sheet1!$B$2:$B$5</c:f>
              <c:numCache>
                <c:formatCode>General</c:formatCode>
                <c:ptCount val="4"/>
                <c:pt idx="0">
                  <c:v>2061</c:v>
                </c:pt>
                <c:pt idx="1">
                  <c:v>2059</c:v>
                </c:pt>
                <c:pt idx="2">
                  <c:v>2047</c:v>
                </c:pt>
                <c:pt idx="3">
                  <c:v>2042</c:v>
                </c:pt>
              </c:numCache>
            </c:numRef>
          </c:val>
          <c:smooth val="0"/>
        </c:ser>
        <c:dLbls>
          <c:numFmt formatCode="0" sourceLinked="0"/>
          <c:txPr>
            <a:bodyPr/>
            <a:lstStyle/>
            <a:p>
              <a:pPr>
                <a:defRPr b="0" i="0" strike="noStrike" sz="1400" u="none">
                  <a:solidFill>
                    <a:srgbClr val="16203A"/>
                  </a:solidFill>
                  <a:latin typeface="Calibr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474"/>
                </a:solidFill>
                <a:latin typeface="Calibri"/>
              </a:defRPr>
            </a:pPr>
            <a:endParaRPr lang="en-US"/>
          </a:p>
        </c:txPr>
        <c:crossAx val="2094734552"/>
        <c:crosses val="autoZero"/>
        <c:auto val="1"/>
        <c:lblAlgn val="ctr"/>
        <c:noMultiLvlLbl val="1"/>
      </c:catAx>
      <c:valAx>
        <c:axId val="2094734552"/>
        <c:scaling>
          <c:orientation val="minMax"/>
          <c:max val="2080"/>
          <c:min val="2020"/>
        </c:scaling>
        <c:delete val="0"/>
        <c:axPos val="l"/>
        <c:majorGridlines>
          <c:spPr>
            <a:ln w="9525" cap="flat">
              <a:solidFill>
                <a:srgbClr val="E1E3E6"/>
              </a:solidFill>
              <a:prstDash val="solid"/>
              <a:round/>
            </a:ln>
          </c:spPr>
        </c:majorGridlines>
        <c:title>
          <c:tx>
            <c:rich>
              <a:bodyPr/>
              <a:lstStyle/>
              <a:p>
                <a:pPr>
                  <a:defRPr sz="1200" b="0" i="0" u="none" strike="noStrike">
                    <a:solidFill>
                      <a:srgbClr val="5B6474"/>
                    </a:solidFill>
                    <a:latin typeface="Calibri"/>
                  </a:defRPr>
                </a:pPr>
                <a:r>
                  <a:rPr sz="1200" b="0" i="0" u="none" strike="noStrike">
                    <a:solidFill>
                      <a:srgbClr val="5B6474"/>
                    </a:solidFill>
                    <a:latin typeface="Calibri"/>
                  </a:rPr>
                  <a:t>forecast year</a:t>
                </a:r>
              </a:p>
            </c:rich>
          </c:tx>
          <c:layout/>
          <c:overlay val="0"/>
        </c:title>
        <c:numFmt formatCode="General" sourceLinked="0"/>
        <c:majorTickMark val="out"/>
        <c:minorTickMark val="none"/>
        <c:tickLblPos val="nextTo"/>
        <c:spPr>
          <a:ln w="12700" cap="flat">
            <a:noFill/>
            <a:prstDash val="solid"/>
            <a:round/>
          </a:ln>
        </c:spPr>
        <c:txPr>
          <a:bodyPr/>
          <a:lstStyle/>
          <a:p>
            <a:pPr>
              <a:defRPr sz="1200" b="0" i="0" u="none" strike="noStrike">
                <a:solidFill>
                  <a:srgbClr val="5B6474"/>
                </a:solidFill>
                <a:latin typeface="Calibri"/>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[0:20 on this slide · from 0:00 · 44 words]
Good morning. In the next five minutes I want to answer one question: how close are we to superintelligence, and what should we do about it? I'll show where AI really stands today, what experts expect, and a simple way for us to prepare.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[0:25 on this slide · from 0:20 · 53 words]
First, a definition, so that we are all arguing about the same thing. The philosopher Nick Bostrom put it this way: an intellect that greatly exceeds human performance in virtually all domains of interest. Not one narrow task. Not chess, and not only coding. Virtually everything we care about, from science to strategy.
Sources: N. Bostrom, Superintelligence: Paths, Dangers, Strategies, Oxford University Press, 2014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on this slide · from 0:45 · 97 words]
So where are we today? Progress is compounding on several fronts at once. The compute used to train frontier models has grown four to five times every single year. On top of that, algorithms become two to six times more efficient each year, so the same hardware buys more capability. More than seven hundred million people now use leading AI systems every week. And in 2025, AI reached gold-medal level on International Mathematical Olympiad problems. None of these on its own is superintelligence. Together, they explain why the question has moved from science fiction to board agendas.
Sources: Epoch AI, Training compute of frontier AI models grows by 4-5x per year; International AI Safety Report 2026 (published 3 February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on this slide · from 1:30 · 97 words]
Here is what the experts think, and how fast that view is moving. The same survey has asked thousands of AI researchers when there will be an even chance of human-level AI. In 2016 the answer was 2061. In the 2022 survey it was 2059. Then it dropped sharply, and by the 2024 survey it was 2042. In other words, the horizon shrank from forty-five years to eighteen in just eight years. The uncertainty is still very wide, and nobody should treat 2042 as a date. But the direction of travel is clear: sooner than people thought.
Sources: Grace et al., Advanced AI according to 1,580 researchers (AI Impacts, September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[0:50 on this slide · from 2:15 · 95 words]
Let's be precise about the gap that remains. On the left is frontier AI today. It solves olympiad maths, passes licensing exams in medicine and law, and AI agents now complete software tasks that take a person about half an hour. But it still fails in surprising ways that are hard to predict. On the right is superintelligence: better than the best people almost everywhere, acting reliably over long horizons, and perhaps speeding up AI research itself. Whether that future goes well depends on one thing above all: whether its goals stay aligned with ours.
Sources: International AI Safety Report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on this slide · from 3:05 · 71 words]
That is why the people building these systems are asking for more caution, not less. In the latest survey, seventy-two percent of AI researchers want risk research to be prioritised more than it is today. The median researcher puts a ten percent chance on outcomes as severe as human extinction or permanent disempowerment. That is not a fringe view held by a few critics. It is the middle of the field.
Sources: Grace et al., Advanced AI according to 1,580 researchers (AI Impacts, September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[0:45 on this slide · from 3:40 · 83 words]
Four open problems will decide how this goes. Alignment: keeping goals and behaviour matched to what we intend, even as capability grows. Evidence: capability moves faster than proof that our safeguards actually work. Security: misuse in cyberattacks and fraud is not hypothetical; it is already being observed. And governance: twelve companies now publish safety frameworks, but the rules differ widely between countries. The point to remember is this: capability is no longer the only question. Control and fair access matter just as much.
Sources: International AI Safety Report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[0:35 on this slide · from 4:25 · 72 words]
So here is my recommendation. Prepare for superintelligence without betting on a date. Treat it as a planning scenario, not a prediction. Concretely, three things: review capability, cost and adoption signals every quarter; set our AI use policy, evaluations and incident response now; and back independent evaluation and common standards. I'd like us to hold the first horizon review at next quarter's leadership meeting. Thank you, and I'm happy to take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image-1003-1.png"/><Relationship Id="rId2"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pn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pn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pn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png"/><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png"/><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9-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P cover">
    <p:bg>
      <p:bgPr>
        <a:solidFill>
          <a:srgbClr val="1B2A6B"/>
        </a:solidFill>
      </p:bgPr>
    </p:bg>
    <p:spTree>
      <p:nvGrpSpPr>
        <p:cNvPr id="1" name=""/>
        <p:cNvGrpSpPr/>
        <p:nvPr/>
      </p:nvGrpSpPr>
      <p:grpSpPr>
        <a:xfrm>
          <a:off x="0" y="0"/>
          <a:ext cx="0" cy="0"/>
          <a:chOff x="0" y="0"/>
          <a:chExt cx="0" cy="0"/>
        </a:xfrm>
      </p:grpSpPr>
      <p:sp>
        <p:nvSpPr>
          <p:cNvPr id="2" name="Shape 0"/>
          <p:cNvSpPr/>
          <p:nvPr/>
        </p:nvSpPr>
        <p:spPr>
          <a:xfrm>
            <a:off x="526694" y="389534"/>
            <a:ext cx="2263630" cy="793699"/>
          </a:xfrm>
          <a:prstGeom prst="rect">
            <a:avLst>
              <a:gd name="adj" fmla="val 9217"/>
            </a:avLst>
          </a:prstGeom>
          <a:solidFill>
            <a:srgbClr val="FFFFFF"/>
          </a:solidFill>
          <a:ln/>
        </p:spPr>
      </p:sp>
      <p:pic>
        <p:nvPicPr>
          <p:cNvPr id="3" name="Image 0" descr="DayPilot logo">    </p:cNvPr>
          <p:cNvPicPr>
            <a:picLocks noChangeAspect="1"/>
          </p:cNvPicPr>
          <p:nvPr/>
        </p:nvPicPr>
        <p:blipFill>
          <a:blip r:embed="rId1"/>
          <a:stretch>
            <a:fillRect/>
          </a:stretch>
        </p:blipFill>
        <p:spPr>
          <a:xfrm>
            <a:off x="640080" y="502920"/>
            <a:ext cx="2036859" cy="566928"/>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P quote">
    <p:bg>
      <p:bgPr>
        <a:solidFill>
          <a:srgbClr val="F1F2F6"/>
        </a:solidFill>
      </p:bgPr>
    </p:bg>
    <p:spTree>
      <p:nvGrpSpPr>
        <p:cNvPr id="1" name=""/>
        <p:cNvGrpSpPr/>
        <p:nvPr/>
      </p:nvGrpSpPr>
      <p:grpSpPr>
        <a:xfrm>
          <a:off x="0" y="0"/>
          <a:ext cx="0" cy="0"/>
          <a:chOff x="0" y="0"/>
          <a:chExt cx="0" cy="0"/>
        </a:xfrm>
      </p:grpSpPr>
      <p:sp>
        <p:nvSpPr>
          <p:cNvPr id="2" name="Text 0"/>
          <p:cNvSpPr/>
          <p:nvPr/>
        </p:nvSpPr>
        <p:spPr>
          <a:xfrm>
            <a:off x="548640" y="6355080"/>
            <a:ext cx="7315017" cy="292608"/>
          </a:xfrm>
          <a:prstGeom prst="rect">
            <a:avLst/>
          </a:prstGeom>
          <a:noFill/>
          <a:ln/>
        </p:spPr>
        <p:txBody>
          <a:bodyPr wrap="square" lIns="0" tIns="0" rIns="0" bIns="0" rtlCol="0" anchor="ctr"/>
          <a:lstStyle/>
          <a:p>
            <a:pPr indent="0" marL="0">
              <a:buNone/>
            </a:pPr>
            <a:r>
              <a:rPr lang="en-US" sz="1100" dirty="0">
                <a:solidFill>
                  <a:srgbClr val="5B6474"/>
                </a:solidFill>
                <a:latin typeface="Calibri" pitchFamily="34" charset="0"/>
                <a:ea typeface="Calibri" pitchFamily="34" charset="-122"/>
                <a:cs typeface="Calibri" pitchFamily="34" charset="-120"/>
              </a:rPr>
              <a:t>DayPilot · Leadership briefing</a:t>
            </a:r>
            <a:endParaRPr lang="en-US" sz="1100" dirty="0"/>
          </a:p>
        </p:txBody>
      </p:sp>
      <p:pic>
        <p:nvPicPr>
          <p:cNvPr id="3" name="Image 0" descr="DayPilot logo">    </p:cNvPr>
          <p:cNvPicPr>
            <a:picLocks noChangeAspect="1"/>
          </p:cNvPicPr>
          <p:nvPr/>
        </p:nvPicPr>
        <p:blipFill>
          <a:blip r:embed="rId1"/>
          <a:stretch>
            <a:fillRect/>
          </a:stretch>
        </p:blipFill>
        <p:spPr>
          <a:xfrm>
            <a:off x="10328953" y="6172200"/>
            <a:ext cx="1314103" cy="365760"/>
          </a:xfrm>
          <a:prstGeom prst="rect">
            <a:avLst/>
          </a:prstGeom>
        </p:spPr>
      </p:pic>
      <p:sp>
        <p:nvSpPr>
          <p:cNvPr id="25" name="Slide Number Placeholder 0"/>
          <p:cNvSpPr>
            <a:spLocks noGrp="1"/>
          </p:cNvSpPr>
          <p:nvPr>
            <p:ph type="sldNum" sz="quarter" idx="4294967295"/>
          </p:nvPr>
        </p:nvSpPr>
        <p:spPr>
          <a:xfrm>
            <a:off x="9505993" y="6355080"/>
            <a:ext cx="54864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5B6474"/>
                </a:solidFill>
                <a:latin typeface="Calibri"/>
                <a:ea typeface="Calibri"/>
                <a:cs typeface="Calibri"/>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DP kpis">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355080"/>
            <a:ext cx="7315017" cy="292608"/>
          </a:xfrm>
          <a:prstGeom prst="rect">
            <a:avLst/>
          </a:prstGeom>
          <a:noFill/>
          <a:ln/>
        </p:spPr>
        <p:txBody>
          <a:bodyPr wrap="square" lIns="0" tIns="0" rIns="0" bIns="0" rtlCol="0" anchor="ctr"/>
          <a:lstStyle/>
          <a:p>
            <a:pPr indent="0" marL="0">
              <a:buNone/>
            </a:pPr>
            <a:r>
              <a:rPr lang="en-US" sz="1100" dirty="0">
                <a:solidFill>
                  <a:srgbClr val="5B6474"/>
                </a:solidFill>
                <a:latin typeface="Calibri" pitchFamily="34" charset="0"/>
                <a:ea typeface="Calibri" pitchFamily="34" charset="-122"/>
                <a:cs typeface="Calibri" pitchFamily="34" charset="-120"/>
              </a:rPr>
              <a:t>DayPilot · Leadership briefing</a:t>
            </a:r>
            <a:endParaRPr lang="en-US" sz="1100" dirty="0"/>
          </a:p>
        </p:txBody>
      </p:sp>
      <p:pic>
        <p:nvPicPr>
          <p:cNvPr id="3" name="Image 0" descr="DayPilot logo">    </p:cNvPr>
          <p:cNvPicPr>
            <a:picLocks noChangeAspect="1"/>
          </p:cNvPicPr>
          <p:nvPr/>
        </p:nvPicPr>
        <p:blipFill>
          <a:blip r:embed="rId1"/>
          <a:stretch>
            <a:fillRect/>
          </a:stretch>
        </p:blipFill>
        <p:spPr>
          <a:xfrm>
            <a:off x="10328953" y="6172200"/>
            <a:ext cx="1314103" cy="365760"/>
          </a:xfrm>
          <a:prstGeom prst="rect">
            <a:avLst/>
          </a:prstGeom>
        </p:spPr>
      </p:pic>
      <p:sp>
        <p:nvSpPr>
          <p:cNvPr id="25" name="Slide Number Placeholder 0"/>
          <p:cNvSpPr>
            <a:spLocks noGrp="1"/>
          </p:cNvSpPr>
          <p:nvPr>
            <p:ph type="sldNum" sz="quarter" idx="4294967295"/>
          </p:nvPr>
        </p:nvSpPr>
        <p:spPr>
          <a:xfrm>
            <a:off x="9505993" y="6355080"/>
            <a:ext cx="54864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5B6474"/>
                </a:solidFill>
                <a:latin typeface="Calibri"/>
                <a:ea typeface="Calibri"/>
                <a:cs typeface="Calibri"/>
              </a:defRPr>
            </a:lvl1pPr>
          </a:lstStyle>
          <a:p>
            <a:pPr algn="r"/>
            <a:fld id="{F7021451-1387-4CA6-816F-3879F97B5CBC}" type="slidenum">
              <a:rPr b="0" lang="en-US"/>
              <a:t>1004</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DP char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355080"/>
            <a:ext cx="7315017" cy="292608"/>
          </a:xfrm>
          <a:prstGeom prst="rect">
            <a:avLst/>
          </a:prstGeom>
          <a:noFill/>
          <a:ln/>
        </p:spPr>
        <p:txBody>
          <a:bodyPr wrap="square" lIns="0" tIns="0" rIns="0" bIns="0" rtlCol="0" anchor="ctr"/>
          <a:lstStyle/>
          <a:p>
            <a:pPr indent="0" marL="0">
              <a:buNone/>
            </a:pPr>
            <a:r>
              <a:rPr lang="en-US" sz="1100" dirty="0">
                <a:solidFill>
                  <a:srgbClr val="5B6474"/>
                </a:solidFill>
                <a:latin typeface="Calibri" pitchFamily="34" charset="0"/>
                <a:ea typeface="Calibri" pitchFamily="34" charset="-122"/>
                <a:cs typeface="Calibri" pitchFamily="34" charset="-120"/>
              </a:rPr>
              <a:t>DayPilot · Leadership briefing</a:t>
            </a:r>
            <a:endParaRPr lang="en-US" sz="1100" dirty="0"/>
          </a:p>
        </p:txBody>
      </p:sp>
      <p:pic>
        <p:nvPicPr>
          <p:cNvPr id="3" name="Image 0" descr="DayPilot logo">    </p:cNvPr>
          <p:cNvPicPr>
            <a:picLocks noChangeAspect="1"/>
          </p:cNvPicPr>
          <p:nvPr/>
        </p:nvPicPr>
        <p:blipFill>
          <a:blip r:embed="rId1"/>
          <a:stretch>
            <a:fillRect/>
          </a:stretch>
        </p:blipFill>
        <p:spPr>
          <a:xfrm>
            <a:off x="10328953" y="6172200"/>
            <a:ext cx="1314103" cy="365760"/>
          </a:xfrm>
          <a:prstGeom prst="rect">
            <a:avLst/>
          </a:prstGeom>
        </p:spPr>
      </p:pic>
      <p:sp>
        <p:nvSpPr>
          <p:cNvPr id="25" name="Slide Number Placeholder 0"/>
          <p:cNvSpPr>
            <a:spLocks noGrp="1"/>
          </p:cNvSpPr>
          <p:nvPr>
            <p:ph type="sldNum" sz="quarter" idx="4294967295"/>
          </p:nvPr>
        </p:nvSpPr>
        <p:spPr>
          <a:xfrm>
            <a:off x="9505993" y="6355080"/>
            <a:ext cx="54864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5B6474"/>
                </a:solidFill>
                <a:latin typeface="Calibri"/>
                <a:ea typeface="Calibri"/>
                <a:cs typeface="Calibri"/>
              </a:defRPr>
            </a:lvl1pPr>
          </a:lstStyle>
          <a:p>
            <a:pPr algn="r"/>
            <a:fld id="{F7021451-1387-4CA6-816F-3879F97B5CBC}" type="slidenum">
              <a:rPr b="0" lang="en-US"/>
              <a:t>1005</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DP comparison">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355080"/>
            <a:ext cx="7315017" cy="292608"/>
          </a:xfrm>
          <a:prstGeom prst="rect">
            <a:avLst/>
          </a:prstGeom>
          <a:noFill/>
          <a:ln/>
        </p:spPr>
        <p:txBody>
          <a:bodyPr wrap="square" lIns="0" tIns="0" rIns="0" bIns="0" rtlCol="0" anchor="ctr"/>
          <a:lstStyle/>
          <a:p>
            <a:pPr indent="0" marL="0">
              <a:buNone/>
            </a:pPr>
            <a:r>
              <a:rPr lang="en-US" sz="1100" dirty="0">
                <a:solidFill>
                  <a:srgbClr val="5B6474"/>
                </a:solidFill>
                <a:latin typeface="Calibri" pitchFamily="34" charset="0"/>
                <a:ea typeface="Calibri" pitchFamily="34" charset="-122"/>
                <a:cs typeface="Calibri" pitchFamily="34" charset="-120"/>
              </a:rPr>
              <a:t>DayPilot · Leadership briefing</a:t>
            </a:r>
            <a:endParaRPr lang="en-US" sz="1100" dirty="0"/>
          </a:p>
        </p:txBody>
      </p:sp>
      <p:pic>
        <p:nvPicPr>
          <p:cNvPr id="3" name="Image 0" descr="DayPilot logo">    </p:cNvPr>
          <p:cNvPicPr>
            <a:picLocks noChangeAspect="1"/>
          </p:cNvPicPr>
          <p:nvPr/>
        </p:nvPicPr>
        <p:blipFill>
          <a:blip r:embed="rId1"/>
          <a:stretch>
            <a:fillRect/>
          </a:stretch>
        </p:blipFill>
        <p:spPr>
          <a:xfrm>
            <a:off x="10328953" y="6172200"/>
            <a:ext cx="1314103" cy="365760"/>
          </a:xfrm>
          <a:prstGeom prst="rect">
            <a:avLst/>
          </a:prstGeom>
        </p:spPr>
      </p:pic>
      <p:sp>
        <p:nvSpPr>
          <p:cNvPr id="25" name="Slide Number Placeholder 0"/>
          <p:cNvSpPr>
            <a:spLocks noGrp="1"/>
          </p:cNvSpPr>
          <p:nvPr>
            <p:ph type="sldNum" sz="quarter" idx="4294967295"/>
          </p:nvPr>
        </p:nvSpPr>
        <p:spPr>
          <a:xfrm>
            <a:off x="9505993" y="6355080"/>
            <a:ext cx="54864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5B6474"/>
                </a:solidFill>
                <a:latin typeface="Calibri"/>
                <a:ea typeface="Calibri"/>
                <a:cs typeface="Calibri"/>
              </a:defRPr>
            </a:lvl1pPr>
          </a:lstStyle>
          <a:p>
            <a:pPr algn="r"/>
            <a:fld id="{F7021451-1387-4CA6-816F-3879F97B5CBC}" type="slidenum">
              <a:rPr b="0" lang="en-US"/>
              <a:t>1006</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DP statem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355080"/>
            <a:ext cx="7315017" cy="292608"/>
          </a:xfrm>
          <a:prstGeom prst="rect">
            <a:avLst/>
          </a:prstGeom>
          <a:noFill/>
          <a:ln/>
        </p:spPr>
        <p:txBody>
          <a:bodyPr wrap="square" lIns="0" tIns="0" rIns="0" bIns="0" rtlCol="0" anchor="ctr"/>
          <a:lstStyle/>
          <a:p>
            <a:pPr indent="0" marL="0">
              <a:buNone/>
            </a:pPr>
            <a:r>
              <a:rPr lang="en-US" sz="1100" dirty="0">
                <a:solidFill>
                  <a:srgbClr val="5B6474"/>
                </a:solidFill>
                <a:latin typeface="Calibri" pitchFamily="34" charset="0"/>
                <a:ea typeface="Calibri" pitchFamily="34" charset="-122"/>
                <a:cs typeface="Calibri" pitchFamily="34" charset="-120"/>
              </a:rPr>
              <a:t>DayPilot · Leadership briefing</a:t>
            </a:r>
            <a:endParaRPr lang="en-US" sz="1100" dirty="0"/>
          </a:p>
        </p:txBody>
      </p:sp>
      <p:pic>
        <p:nvPicPr>
          <p:cNvPr id="3" name="Image 0" descr="DayPilot logo">    </p:cNvPr>
          <p:cNvPicPr>
            <a:picLocks noChangeAspect="1"/>
          </p:cNvPicPr>
          <p:nvPr/>
        </p:nvPicPr>
        <p:blipFill>
          <a:blip r:embed="rId1"/>
          <a:stretch>
            <a:fillRect/>
          </a:stretch>
        </p:blipFill>
        <p:spPr>
          <a:xfrm>
            <a:off x="10328953" y="6172200"/>
            <a:ext cx="1314103" cy="365760"/>
          </a:xfrm>
          <a:prstGeom prst="rect">
            <a:avLst/>
          </a:prstGeom>
        </p:spPr>
      </p:pic>
      <p:sp>
        <p:nvSpPr>
          <p:cNvPr id="25" name="Slide Number Placeholder 0"/>
          <p:cNvSpPr>
            <a:spLocks noGrp="1"/>
          </p:cNvSpPr>
          <p:nvPr>
            <p:ph type="sldNum" sz="quarter" idx="4294967295"/>
          </p:nvPr>
        </p:nvSpPr>
        <p:spPr>
          <a:xfrm>
            <a:off x="9505993" y="6355080"/>
            <a:ext cx="54864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5B6474"/>
                </a:solidFill>
                <a:latin typeface="Calibri"/>
                <a:ea typeface="Calibri"/>
                <a:cs typeface="Calibri"/>
              </a:defRPr>
            </a:lvl1pPr>
          </a:lstStyle>
          <a:p>
            <a:pPr algn="r"/>
            <a:fld id="{F7021451-1387-4CA6-816F-3879F97B5CBC}" type="slidenum">
              <a:rPr b="0" lang="en-US"/>
              <a:t>1007</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DP bullets">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355080"/>
            <a:ext cx="7315017" cy="292608"/>
          </a:xfrm>
          <a:prstGeom prst="rect">
            <a:avLst/>
          </a:prstGeom>
          <a:noFill/>
          <a:ln/>
        </p:spPr>
        <p:txBody>
          <a:bodyPr wrap="square" lIns="0" tIns="0" rIns="0" bIns="0" rtlCol="0" anchor="ctr"/>
          <a:lstStyle/>
          <a:p>
            <a:pPr indent="0" marL="0">
              <a:buNone/>
            </a:pPr>
            <a:r>
              <a:rPr lang="en-US" sz="1100" dirty="0">
                <a:solidFill>
                  <a:srgbClr val="5B6474"/>
                </a:solidFill>
                <a:latin typeface="Calibri" pitchFamily="34" charset="0"/>
                <a:ea typeface="Calibri" pitchFamily="34" charset="-122"/>
                <a:cs typeface="Calibri" pitchFamily="34" charset="-120"/>
              </a:rPr>
              <a:t>DayPilot · Leadership briefing</a:t>
            </a:r>
            <a:endParaRPr lang="en-US" sz="1100" dirty="0"/>
          </a:p>
        </p:txBody>
      </p:sp>
      <p:pic>
        <p:nvPicPr>
          <p:cNvPr id="3" name="Image 0" descr="DayPilot logo">    </p:cNvPr>
          <p:cNvPicPr>
            <a:picLocks noChangeAspect="1"/>
          </p:cNvPicPr>
          <p:nvPr/>
        </p:nvPicPr>
        <p:blipFill>
          <a:blip r:embed="rId1"/>
          <a:stretch>
            <a:fillRect/>
          </a:stretch>
        </p:blipFill>
        <p:spPr>
          <a:xfrm>
            <a:off x="10328953" y="6172200"/>
            <a:ext cx="1314103" cy="365760"/>
          </a:xfrm>
          <a:prstGeom prst="rect">
            <a:avLst/>
          </a:prstGeom>
        </p:spPr>
      </p:pic>
      <p:sp>
        <p:nvSpPr>
          <p:cNvPr id="25" name="Slide Number Placeholder 0"/>
          <p:cNvSpPr>
            <a:spLocks noGrp="1"/>
          </p:cNvSpPr>
          <p:nvPr>
            <p:ph type="sldNum" sz="quarter" idx="4294967295"/>
          </p:nvPr>
        </p:nvSpPr>
        <p:spPr>
          <a:xfrm>
            <a:off x="9505993" y="6355080"/>
            <a:ext cx="54864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5B6474"/>
                </a:solidFill>
                <a:latin typeface="Calibri"/>
                <a:ea typeface="Calibri"/>
                <a:cs typeface="Calibri"/>
              </a:defRPr>
            </a:lvl1pPr>
          </a:lstStyle>
          <a:p>
            <a:pPr algn="r"/>
            <a:fld id="{F7021451-1387-4CA6-816F-3879F97B5CBC}" type="slidenum">
              <a:rPr b="0" lang="en-US"/>
              <a:t>1008</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DP closing">
    <p:bg>
      <p:bgPr>
        <a:solidFill>
          <a:srgbClr val="1B2A6B"/>
        </a:solidFill>
      </p:bgPr>
    </p:bg>
    <p:spTree>
      <p:nvGrpSpPr>
        <p:cNvPr id="1" name=""/>
        <p:cNvGrpSpPr/>
        <p:nvPr/>
      </p:nvGrpSpPr>
      <p:grpSpPr>
        <a:xfrm>
          <a:off x="0" y="0"/>
          <a:ext cx="0" cy="0"/>
          <a:chOff x="0" y="0"/>
          <a:chExt cx="0" cy="0"/>
        </a:xfrm>
      </p:grpSpPr>
      <p:sp>
        <p:nvSpPr>
          <p:cNvPr id="2" name="Text 0"/>
          <p:cNvSpPr/>
          <p:nvPr/>
        </p:nvSpPr>
        <p:spPr>
          <a:xfrm>
            <a:off x="548640" y="6355080"/>
            <a:ext cx="7315017" cy="292608"/>
          </a:xfrm>
          <a:prstGeom prst="rect">
            <a:avLst/>
          </a:prstGeom>
          <a:noFill/>
          <a:ln/>
        </p:spPr>
        <p:txBody>
          <a:bodyPr wrap="square" lIns="0" tIns="0" rIns="0" bIns="0" rtlCol="0" anchor="ctr"/>
          <a:lstStyle/>
          <a:p>
            <a:pPr indent="0" marL="0">
              <a:buNone/>
            </a:pPr>
            <a:r>
              <a:rPr lang="en-US" sz="1100" dirty="0">
                <a:solidFill>
                  <a:srgbClr val="FFFFFF"/>
                </a:solidFill>
                <a:latin typeface="Calibri" pitchFamily="34" charset="0"/>
                <a:ea typeface="Calibri" pitchFamily="34" charset="-122"/>
                <a:cs typeface="Calibri" pitchFamily="34" charset="-120"/>
              </a:rPr>
              <a:t>DayPilot · Leadership briefing</a:t>
            </a:r>
            <a:endParaRPr lang="en-US" sz="1100" dirty="0"/>
          </a:p>
        </p:txBody>
      </p:sp>
      <p:sp>
        <p:nvSpPr>
          <p:cNvPr id="3" name="Shape 1"/>
          <p:cNvSpPr/>
          <p:nvPr/>
        </p:nvSpPr>
        <p:spPr>
          <a:xfrm>
            <a:off x="10237513" y="6080760"/>
            <a:ext cx="1496983" cy="548640"/>
          </a:xfrm>
          <a:prstGeom prst="rect">
            <a:avLst>
              <a:gd name="adj" fmla="val 13333"/>
            </a:avLst>
          </a:prstGeom>
          <a:solidFill>
            <a:srgbClr val="FFFFFF"/>
          </a:solidFill>
          <a:ln/>
        </p:spPr>
      </p:sp>
      <p:pic>
        <p:nvPicPr>
          <p:cNvPr id="4" name="Image 0" descr="DayPilot logo">    </p:cNvPr>
          <p:cNvPicPr>
            <a:picLocks noChangeAspect="1"/>
          </p:cNvPicPr>
          <p:nvPr/>
        </p:nvPicPr>
        <p:blipFill>
          <a:blip r:embed="rId1"/>
          <a:stretch>
            <a:fillRect/>
          </a:stretch>
        </p:blipFill>
        <p:spPr>
          <a:xfrm>
            <a:off x="10328953" y="6172200"/>
            <a:ext cx="1314103" cy="365760"/>
          </a:xfrm>
          <a:prstGeom prst="rect">
            <a:avLst/>
          </a:prstGeom>
        </p:spPr>
      </p:pic>
      <p:sp>
        <p:nvSpPr>
          <p:cNvPr id="25" name="Slide Number Placeholder 0"/>
          <p:cNvSpPr>
            <a:spLocks noGrp="1"/>
          </p:cNvSpPr>
          <p:nvPr>
            <p:ph type="sldNum" sz="quarter" idx="4294967295"/>
          </p:nvPr>
        </p:nvSpPr>
        <p:spPr>
          <a:xfrm>
            <a:off x="9505993" y="6355080"/>
            <a:ext cx="54864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Calibri"/>
                <a:ea typeface="Calibri"/>
                <a:cs typeface="Calibri"/>
              </a:defRPr>
            </a:lvl1pPr>
          </a:lstStyle>
          <a:p>
            <a:pPr algn="r"/>
            <a:fld id="{F7021451-1387-4CA6-816F-3879F97B5CBC}" type="slidenum">
              <a:rPr b="0" lang="en-US"/>
              <a:t>1009</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9505993" y="6355080"/>
            <a:ext cx="54864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5B6474"/>
                </a:solidFill>
                <a:latin typeface="Calibri"/>
                <a:ea typeface="Calibri"/>
                <a:cs typeface="Calibri"/>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5.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motif_large"/>
          <p:cNvSpPr/>
          <p:nvPr/>
        </p:nvSpPr>
        <p:spPr>
          <a:xfrm>
            <a:off x="7802685" y="-1234440"/>
            <a:ext cx="7200900" cy="7200900"/>
          </a:xfrm>
          <a:prstGeom prst="ellipse">
            <a:avLst/>
          </a:prstGeom>
          <a:solidFill>
            <a:srgbClr val="3B4880"/>
          </a:solidFill>
          <a:ln w="12700">
            <a:solidFill>
              <a:srgbClr val="3B4880"/>
            </a:solidFill>
            <a:prstDash val="solid"/>
          </a:ln>
        </p:spPr>
      </p:sp>
      <p:sp>
        <p:nvSpPr>
          <p:cNvPr id="3" name="motif_small"/>
          <p:cNvSpPr/>
          <p:nvPr/>
        </p:nvSpPr>
        <p:spPr>
          <a:xfrm>
            <a:off x="10119107" y="4114800"/>
            <a:ext cx="2331720" cy="2331720"/>
          </a:xfrm>
          <a:prstGeom prst="ellipse">
            <a:avLst/>
          </a:prstGeom>
          <a:solidFill>
            <a:srgbClr val="0FA3B1"/>
          </a:solidFill>
          <a:ln w="12700">
            <a:solidFill>
              <a:srgbClr val="0FA3B1"/>
            </a:solidFill>
            <a:prstDash val="solid"/>
          </a:ln>
        </p:spPr>
      </p:sp>
      <p:sp>
        <p:nvSpPr>
          <p:cNvPr id="4" name="cover__kicker__kicker"/>
          <p:cNvSpPr txBox="1"/>
          <p:nvPr/>
        </p:nvSpPr>
        <p:spPr>
          <a:xfrm>
            <a:off x="640064" y="1737131"/>
            <a:ext cx="7558851" cy="411480"/>
          </a:xfrm>
          <a:prstGeom prst="rect">
            <a:avLst/>
          </a:prstGeom>
          <a:noFill/>
          <a:ln/>
        </p:spPr>
        <p:txBody>
          <a:bodyPr wrap="square" lIns="0" tIns="0" rIns="0" bIns="0" rtlCol="0" anchor="t"/>
          <a:lstStyle/>
          <a:p>
            <a:pPr algn="l" indent="0" marL="0">
              <a:buNone/>
            </a:pPr>
            <a:r>
              <a:rPr lang="en-US" sz="1600" b="1" dirty="0">
                <a:solidFill>
                  <a:srgbClr val="FFFFFF"/>
                </a:solidFill>
                <a:latin typeface="Calibri" pitchFamily="34" charset="0"/>
                <a:ea typeface="Calibri" pitchFamily="34" charset="-122"/>
                <a:cs typeface="Calibri" pitchFamily="34" charset="-120"/>
              </a:rPr>
              <a:t>Briefing · October 2026</a:t>
            </a:r>
            <a:endParaRPr lang="en-US" sz="1600" dirty="0"/>
          </a:p>
        </p:txBody>
      </p:sp>
      <p:sp>
        <p:nvSpPr>
          <p:cNvPr id="5" name="cover__title__text"/>
          <p:cNvSpPr txBox="1"/>
          <p:nvPr/>
        </p:nvSpPr>
        <p:spPr>
          <a:xfrm>
            <a:off x="640064" y="2194560"/>
            <a:ext cx="8046519" cy="1829029"/>
          </a:xfrm>
          <a:prstGeom prst="rect">
            <a:avLst/>
          </a:prstGeom>
          <a:noFill/>
          <a:ln/>
        </p:spPr>
        <p:txBody>
          <a:bodyPr wrap="square" lIns="0" tIns="0" rIns="0" bIns="0" rtlCol="0" anchor="t"/>
          <a:lstStyle/>
          <a:p>
            <a:pPr algn="l" indent="0" marL="0">
              <a:buNone/>
            </a:pPr>
            <a:r>
              <a:rPr lang="en-US" sz="4400" b="1" dirty="0">
                <a:solidFill>
                  <a:srgbClr val="FFFFFF"/>
                </a:solidFill>
                <a:latin typeface="Calibri" pitchFamily="34" charset="0"/>
                <a:ea typeface="Calibri" pitchFamily="34" charset="-122"/>
                <a:cs typeface="Calibri" pitchFamily="34" charset="-120"/>
              </a:rPr>
              <a:t>Superintelligence: where we are and what comes next</a:t>
            </a:r>
            <a:endParaRPr lang="en-US" sz="4400" dirty="0"/>
          </a:p>
        </p:txBody>
      </p:sp>
      <p:sp>
        <p:nvSpPr>
          <p:cNvPr id="6" name="cover__subtitle__text"/>
          <p:cNvSpPr txBox="1"/>
          <p:nvPr/>
        </p:nvSpPr>
        <p:spPr>
          <a:xfrm>
            <a:off x="640064" y="4160749"/>
            <a:ext cx="7315017" cy="914171"/>
          </a:xfrm>
          <a:prstGeom prst="rect">
            <a:avLst/>
          </a:prstGeom>
          <a:noFill/>
          <a:ln/>
        </p:spPr>
        <p:txBody>
          <a:bodyPr wrap="square" lIns="0" tIns="0" rIns="0" bIns="0" rtlCol="0" anchor="t"/>
          <a:lstStyle/>
          <a:p>
            <a:pPr algn="l" indent="0" marL="0">
              <a:buNone/>
            </a:pPr>
            <a:r>
              <a:rPr lang="en-US" sz="2000" dirty="0">
                <a:solidFill>
                  <a:srgbClr val="FFFFFF"/>
                </a:solidFill>
                <a:latin typeface="Calibri" pitchFamily="34" charset="0"/>
                <a:ea typeface="Calibri" pitchFamily="34" charset="-122"/>
                <a:cs typeface="Calibri" pitchFamily="34" charset="-120"/>
              </a:rPr>
              <a:t>The evidence today, the expert outlook, and how to prepare</a:t>
            </a:r>
            <a:endParaRPr lang="en-US" sz="2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quote_mark"/>
          <p:cNvSpPr txBox="1"/>
          <p:nvPr/>
        </p:nvSpPr>
        <p:spPr>
          <a:xfrm>
            <a:off x="731520" y="822960"/>
            <a:ext cx="1097280" cy="1280160"/>
          </a:xfrm>
          <a:prstGeom prst="rect">
            <a:avLst/>
          </a:prstGeom>
          <a:noFill/>
          <a:ln/>
        </p:spPr>
        <p:txBody>
          <a:bodyPr wrap="square" lIns="0" tIns="0" rIns="0" bIns="0" rtlCol="0" anchor="ctr"/>
          <a:lstStyle/>
          <a:p>
            <a:pPr indent="0" marL="0">
              <a:buNone/>
            </a:pPr>
            <a:r>
              <a:rPr lang="en-US" sz="12000" b="1" dirty="0">
                <a:solidFill>
                  <a:srgbClr val="0FA3B1"/>
                </a:solidFill>
                <a:latin typeface="Calibri" pitchFamily="34" charset="0"/>
                <a:ea typeface="Calibri" pitchFamily="34" charset="-122"/>
                <a:cs typeface="Calibri" pitchFamily="34" charset="-120"/>
              </a:rPr>
              <a:t>“</a:t>
            </a:r>
            <a:endParaRPr lang="en-US" sz="12000" dirty="0"/>
          </a:p>
        </p:txBody>
      </p:sp>
      <p:sp>
        <p:nvSpPr>
          <p:cNvPr id="3" name="definition__quote__quote"/>
          <p:cNvSpPr txBox="1"/>
          <p:nvPr/>
        </p:nvSpPr>
        <p:spPr>
          <a:xfrm>
            <a:off x="1645879" y="1829029"/>
            <a:ext cx="8899937" cy="2743200"/>
          </a:xfrm>
          <a:prstGeom prst="rect">
            <a:avLst/>
          </a:prstGeom>
          <a:noFill/>
          <a:ln/>
        </p:spPr>
        <p:txBody>
          <a:bodyPr wrap="square" lIns="0" tIns="0" rIns="0" bIns="0" rtlCol="0" anchor="t"/>
          <a:lstStyle/>
          <a:p>
            <a:pPr algn="l" indent="0" marL="0">
              <a:buNone/>
            </a:pPr>
            <a:r>
              <a:rPr lang="en-US" sz="3000" i="1" dirty="0">
                <a:solidFill>
                  <a:srgbClr val="16203A"/>
                </a:solidFill>
                <a:latin typeface="Calibri" pitchFamily="34" charset="0"/>
                <a:ea typeface="Calibri" pitchFamily="34" charset="-122"/>
                <a:cs typeface="Calibri" pitchFamily="34" charset="-120"/>
              </a:rPr>
              <a:t>Any intellect that greatly exceeds the cognitive performance of humans in virtually all domains of interest.</a:t>
            </a:r>
            <a:endParaRPr lang="en-US" sz="3000" dirty="0"/>
          </a:p>
        </p:txBody>
      </p:sp>
      <p:sp>
        <p:nvSpPr>
          <p:cNvPr id="4" name="definition__attribution__text"/>
          <p:cNvSpPr txBox="1"/>
          <p:nvPr/>
        </p:nvSpPr>
        <p:spPr>
          <a:xfrm>
            <a:off x="1645879" y="4709389"/>
            <a:ext cx="8899937" cy="457429"/>
          </a:xfrm>
          <a:prstGeom prst="rect">
            <a:avLst/>
          </a:prstGeom>
          <a:noFill/>
          <a:ln/>
        </p:spPr>
        <p:txBody>
          <a:bodyPr wrap="square" lIns="0" tIns="0" rIns="0" bIns="0" rtlCol="0" anchor="t"/>
          <a:lstStyle/>
          <a:p>
            <a:pPr algn="l" indent="0" marL="0">
              <a:buNone/>
            </a:pPr>
            <a:r>
              <a:rPr lang="en-US" sz="1200" dirty="0">
                <a:solidFill>
                  <a:srgbClr val="5B6474"/>
                </a:solidFill>
                <a:latin typeface="Calibri" pitchFamily="34" charset="0"/>
                <a:ea typeface="Calibri" pitchFamily="34" charset="-122"/>
                <a:cs typeface="Calibri" pitchFamily="34" charset="-120"/>
              </a:rPr>
              <a:t>— Nick Bostrom, Superintelligence (2014)</a:t>
            </a:r>
            <a:endParaRPr lang="en-US" sz="1200" dirty="0"/>
          </a:p>
        </p:txBody>
      </p:sp>
      <p:sp>
        <p:nvSpPr>
          <p:cNvPr id="25" name="Slide Number Placeholder 0"/>
          <p:cNvSpPr>
            <a:spLocks noGrp="1"/>
          </p:cNvSpPr>
          <p:nvPr>
            <p:ph type="sldNum" sz="quarter" idx="4294967295"/>
          </p:nvPr>
        </p:nvSpPr>
        <p:spPr>
          <a:xfrm>
            <a:off x="9505993" y="6355080"/>
            <a:ext cx="54864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5B6474"/>
                </a:solidFill>
                <a:latin typeface="Calibri"/>
                <a:ea typeface="Calibri"/>
                <a:cs typeface="Calibri"/>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kpi1_tile"/>
          <p:cNvSpPr/>
          <p:nvPr/>
        </p:nvSpPr>
        <p:spPr>
          <a:xfrm>
            <a:off x="594948" y="1920240"/>
            <a:ext cx="2476147" cy="2728570"/>
          </a:xfrm>
          <a:prstGeom prst="roundRect">
            <a:avLst>
              <a:gd name="adj" fmla="val 4431"/>
            </a:avLst>
          </a:prstGeom>
          <a:solidFill>
            <a:srgbClr val="EDEEF3"/>
          </a:solidFill>
          <a:ln w="12700">
            <a:solidFill>
              <a:srgbClr val="EDEEF3"/>
            </a:solidFill>
            <a:prstDash val="solid"/>
          </a:ln>
        </p:spPr>
      </p:sp>
      <p:sp>
        <p:nvSpPr>
          <p:cNvPr id="3" name="kpi2_tile"/>
          <p:cNvSpPr/>
          <p:nvPr/>
        </p:nvSpPr>
        <p:spPr>
          <a:xfrm>
            <a:off x="3436832" y="1920240"/>
            <a:ext cx="2476147" cy="2728570"/>
          </a:xfrm>
          <a:prstGeom prst="roundRect">
            <a:avLst>
              <a:gd name="adj" fmla="val 4431"/>
            </a:avLst>
          </a:prstGeom>
          <a:solidFill>
            <a:srgbClr val="EDEEF3"/>
          </a:solidFill>
          <a:ln w="12700">
            <a:solidFill>
              <a:srgbClr val="EDEEF3"/>
            </a:solidFill>
            <a:prstDash val="solid"/>
          </a:ln>
        </p:spPr>
      </p:sp>
      <p:sp>
        <p:nvSpPr>
          <p:cNvPr id="4" name="kpi3_tile"/>
          <p:cNvSpPr/>
          <p:nvPr/>
        </p:nvSpPr>
        <p:spPr>
          <a:xfrm>
            <a:off x="6278716" y="1920240"/>
            <a:ext cx="2476147" cy="2728570"/>
          </a:xfrm>
          <a:prstGeom prst="roundRect">
            <a:avLst>
              <a:gd name="adj" fmla="val 4431"/>
            </a:avLst>
          </a:prstGeom>
          <a:solidFill>
            <a:srgbClr val="EDEEF3"/>
          </a:solidFill>
          <a:ln w="12700">
            <a:solidFill>
              <a:srgbClr val="EDEEF3"/>
            </a:solidFill>
            <a:prstDash val="solid"/>
          </a:ln>
        </p:spPr>
      </p:sp>
      <p:sp>
        <p:nvSpPr>
          <p:cNvPr id="5" name="kpi4_tile"/>
          <p:cNvSpPr/>
          <p:nvPr/>
        </p:nvSpPr>
        <p:spPr>
          <a:xfrm>
            <a:off x="9120600" y="1920240"/>
            <a:ext cx="2476147" cy="2728570"/>
          </a:xfrm>
          <a:prstGeom prst="roundRect">
            <a:avLst>
              <a:gd name="adj" fmla="val 4431"/>
            </a:avLst>
          </a:prstGeom>
          <a:solidFill>
            <a:srgbClr val="EDEEF3"/>
          </a:solidFill>
          <a:ln w="12700">
            <a:solidFill>
              <a:srgbClr val="EDEEF3"/>
            </a:solidFill>
            <a:prstDash val="solid"/>
          </a:ln>
        </p:spPr>
      </p:sp>
      <p:sp>
        <p:nvSpPr>
          <p:cNvPr id="6" name="status__title__text"/>
          <p:cNvSpPr txBox="1"/>
          <p:nvPr/>
        </p:nvSpPr>
        <p:spPr>
          <a:xfrm>
            <a:off x="548626" y="457429"/>
            <a:ext cx="11094443" cy="960120"/>
          </a:xfrm>
          <a:prstGeom prst="rect">
            <a:avLst/>
          </a:prstGeom>
          <a:noFill/>
          <a:ln/>
        </p:spPr>
        <p:txBody>
          <a:bodyPr wrap="square" lIns="0" tIns="0" rIns="0" bIns="0" rtlCol="0" anchor="t"/>
          <a:lstStyle/>
          <a:p>
            <a:pPr algn="l" indent="0" marL="0">
              <a:buNone/>
            </a:pPr>
            <a:r>
              <a:rPr lang="en-US" sz="3200" b="1" dirty="0">
                <a:solidFill>
                  <a:srgbClr val="16203A"/>
                </a:solidFill>
                <a:latin typeface="Calibri" pitchFamily="34" charset="0"/>
                <a:ea typeface="Calibri" pitchFamily="34" charset="-122"/>
                <a:cs typeface="Calibri" pitchFamily="34" charset="-120"/>
              </a:rPr>
              <a:t>Capability is compounding on several fronts at once</a:t>
            </a:r>
            <a:endParaRPr lang="en-US" sz="3200" dirty="0"/>
          </a:p>
        </p:txBody>
      </p:sp>
      <p:sp>
        <p:nvSpPr>
          <p:cNvPr id="7" name="status__kpi1__value"/>
          <p:cNvSpPr txBox="1"/>
          <p:nvPr/>
        </p:nvSpPr>
        <p:spPr>
          <a:xfrm>
            <a:off x="869268" y="2194560"/>
            <a:ext cx="1927507" cy="1382573"/>
          </a:xfrm>
          <a:prstGeom prst="rect">
            <a:avLst/>
          </a:prstGeom>
          <a:noFill/>
          <a:ln/>
        </p:spPr>
        <p:txBody>
          <a:bodyPr wrap="square" lIns="0" tIns="0" rIns="0" bIns="0" rtlCol="0" anchor="b"/>
          <a:lstStyle/>
          <a:p>
            <a:pPr algn="l" indent="0" marL="0">
              <a:buNone/>
            </a:pPr>
            <a:r>
              <a:rPr lang="en-US" sz="5200" b="1" dirty="0">
                <a:solidFill>
                  <a:srgbClr val="1B2A6B"/>
                </a:solidFill>
                <a:latin typeface="Calibri" pitchFamily="34" charset="0"/>
                <a:ea typeface="Calibri" pitchFamily="34" charset="-122"/>
                <a:cs typeface="Calibri" pitchFamily="34" charset="-120"/>
              </a:rPr>
              <a:t>4–5×</a:t>
            </a:r>
            <a:endParaRPr lang="en-US" sz="5200" dirty="0"/>
          </a:p>
        </p:txBody>
      </p:sp>
      <p:sp>
        <p:nvSpPr>
          <p:cNvPr id="8" name="status__kpi1__label"/>
          <p:cNvSpPr txBox="1"/>
          <p:nvPr/>
        </p:nvSpPr>
        <p:spPr>
          <a:xfrm>
            <a:off x="869268" y="3675888"/>
            <a:ext cx="1927507" cy="790042"/>
          </a:xfrm>
          <a:prstGeom prst="rect">
            <a:avLst/>
          </a:prstGeom>
          <a:noFill/>
          <a:ln/>
        </p:spPr>
        <p:txBody>
          <a:bodyPr wrap="square" lIns="0" tIns="0" rIns="0" bIns="0" rtlCol="0" anchor="t"/>
          <a:lstStyle/>
          <a:p>
            <a:pPr algn="l" indent="0" marL="0">
              <a:buNone/>
            </a:pPr>
            <a:r>
              <a:rPr lang="en-US" sz="1600" dirty="0">
                <a:solidFill>
                  <a:srgbClr val="16203A"/>
                </a:solidFill>
                <a:latin typeface="Calibri" pitchFamily="34" charset="0"/>
                <a:ea typeface="Calibri" pitchFamily="34" charset="-122"/>
                <a:cs typeface="Calibri" pitchFamily="34" charset="-120"/>
              </a:rPr>
              <a:t>Yearly growth in frontier training compute</a:t>
            </a:r>
            <a:endParaRPr lang="en-US" sz="1600" dirty="0"/>
          </a:p>
        </p:txBody>
      </p:sp>
      <p:sp>
        <p:nvSpPr>
          <p:cNvPr id="9" name="status__kpi2__value"/>
          <p:cNvSpPr txBox="1"/>
          <p:nvPr/>
        </p:nvSpPr>
        <p:spPr>
          <a:xfrm>
            <a:off x="3711152" y="2194560"/>
            <a:ext cx="1927507" cy="1382573"/>
          </a:xfrm>
          <a:prstGeom prst="rect">
            <a:avLst/>
          </a:prstGeom>
          <a:noFill/>
          <a:ln/>
        </p:spPr>
        <p:txBody>
          <a:bodyPr wrap="square" lIns="0" tIns="0" rIns="0" bIns="0" rtlCol="0" anchor="b"/>
          <a:lstStyle/>
          <a:p>
            <a:pPr algn="l" indent="0" marL="0">
              <a:buNone/>
            </a:pPr>
            <a:r>
              <a:rPr lang="en-US" sz="5200" b="1" dirty="0">
                <a:solidFill>
                  <a:srgbClr val="1B2A6B"/>
                </a:solidFill>
                <a:latin typeface="Calibri" pitchFamily="34" charset="0"/>
                <a:ea typeface="Calibri" pitchFamily="34" charset="-122"/>
                <a:cs typeface="Calibri" pitchFamily="34" charset="-120"/>
              </a:rPr>
              <a:t>2–6×</a:t>
            </a:r>
            <a:endParaRPr lang="en-US" sz="5200" dirty="0"/>
          </a:p>
        </p:txBody>
      </p:sp>
      <p:sp>
        <p:nvSpPr>
          <p:cNvPr id="10" name="status__kpi2__label"/>
          <p:cNvSpPr txBox="1"/>
          <p:nvPr/>
        </p:nvSpPr>
        <p:spPr>
          <a:xfrm>
            <a:off x="3711152" y="3675888"/>
            <a:ext cx="1927507" cy="790042"/>
          </a:xfrm>
          <a:prstGeom prst="rect">
            <a:avLst/>
          </a:prstGeom>
          <a:noFill/>
          <a:ln/>
        </p:spPr>
        <p:txBody>
          <a:bodyPr wrap="square" lIns="0" tIns="0" rIns="0" bIns="0" rtlCol="0" anchor="t"/>
          <a:lstStyle/>
          <a:p>
            <a:pPr algn="l" indent="0" marL="0">
              <a:buNone/>
            </a:pPr>
            <a:r>
              <a:rPr lang="en-US" sz="1600" dirty="0">
                <a:solidFill>
                  <a:srgbClr val="16203A"/>
                </a:solidFill>
                <a:latin typeface="Calibri" pitchFamily="34" charset="0"/>
                <a:ea typeface="Calibri" pitchFamily="34" charset="-122"/>
                <a:cs typeface="Calibri" pitchFamily="34" charset="-120"/>
              </a:rPr>
              <a:t>Yearly gain in algorithmic efficiency</a:t>
            </a:r>
            <a:endParaRPr lang="en-US" sz="1600" dirty="0"/>
          </a:p>
        </p:txBody>
      </p:sp>
      <p:sp>
        <p:nvSpPr>
          <p:cNvPr id="11" name="status__kpi3__value"/>
          <p:cNvSpPr txBox="1"/>
          <p:nvPr/>
        </p:nvSpPr>
        <p:spPr>
          <a:xfrm>
            <a:off x="6553036" y="2194560"/>
            <a:ext cx="1927507" cy="1382573"/>
          </a:xfrm>
          <a:prstGeom prst="rect">
            <a:avLst/>
          </a:prstGeom>
          <a:noFill/>
          <a:ln/>
        </p:spPr>
        <p:txBody>
          <a:bodyPr wrap="square" lIns="0" tIns="0" rIns="0" bIns="0" rtlCol="0" anchor="b"/>
          <a:lstStyle/>
          <a:p>
            <a:pPr algn="l" indent="0" marL="0">
              <a:buNone/>
            </a:pPr>
            <a:r>
              <a:rPr lang="en-US" sz="5200" b="1" dirty="0">
                <a:solidFill>
                  <a:srgbClr val="1B2A6B"/>
                </a:solidFill>
                <a:latin typeface="Calibri" pitchFamily="34" charset="0"/>
                <a:ea typeface="Calibri" pitchFamily="34" charset="-122"/>
                <a:cs typeface="Calibri" pitchFamily="34" charset="-120"/>
              </a:rPr>
              <a:t>700M+</a:t>
            </a:r>
            <a:endParaRPr lang="en-US" sz="5200" dirty="0"/>
          </a:p>
        </p:txBody>
      </p:sp>
      <p:sp>
        <p:nvSpPr>
          <p:cNvPr id="12" name="status__kpi3__label"/>
          <p:cNvSpPr txBox="1"/>
          <p:nvPr/>
        </p:nvSpPr>
        <p:spPr>
          <a:xfrm>
            <a:off x="6553036" y="3675888"/>
            <a:ext cx="1927507" cy="790042"/>
          </a:xfrm>
          <a:prstGeom prst="rect">
            <a:avLst/>
          </a:prstGeom>
          <a:noFill/>
          <a:ln/>
        </p:spPr>
        <p:txBody>
          <a:bodyPr wrap="square" lIns="0" tIns="0" rIns="0" bIns="0" rtlCol="0" anchor="t"/>
          <a:lstStyle/>
          <a:p>
            <a:pPr algn="l" indent="0" marL="0">
              <a:buNone/>
            </a:pPr>
            <a:r>
              <a:rPr lang="en-US" sz="1600" dirty="0">
                <a:solidFill>
                  <a:srgbClr val="16203A"/>
                </a:solidFill>
                <a:latin typeface="Calibri" pitchFamily="34" charset="0"/>
                <a:ea typeface="Calibri" pitchFamily="34" charset="-122"/>
                <a:cs typeface="Calibri" pitchFamily="34" charset="-120"/>
              </a:rPr>
              <a:t>People using leading AI systems weekly</a:t>
            </a:r>
            <a:endParaRPr lang="en-US" sz="1600" dirty="0"/>
          </a:p>
        </p:txBody>
      </p:sp>
      <p:sp>
        <p:nvSpPr>
          <p:cNvPr id="13" name="status__kpi4__value"/>
          <p:cNvSpPr txBox="1"/>
          <p:nvPr/>
        </p:nvSpPr>
        <p:spPr>
          <a:xfrm>
            <a:off x="9394920" y="2194560"/>
            <a:ext cx="1927507" cy="1382573"/>
          </a:xfrm>
          <a:prstGeom prst="rect">
            <a:avLst/>
          </a:prstGeom>
          <a:noFill/>
          <a:ln/>
        </p:spPr>
        <p:txBody>
          <a:bodyPr wrap="square" lIns="0" tIns="0" rIns="0" bIns="0" rtlCol="0" anchor="b"/>
          <a:lstStyle/>
          <a:p>
            <a:pPr algn="l" indent="0" marL="0">
              <a:buNone/>
            </a:pPr>
            <a:r>
              <a:rPr lang="en-US" sz="5200" b="1" dirty="0">
                <a:solidFill>
                  <a:srgbClr val="1B2A6B"/>
                </a:solidFill>
                <a:latin typeface="Calibri" pitchFamily="34" charset="0"/>
                <a:ea typeface="Calibri" pitchFamily="34" charset="-122"/>
                <a:cs typeface="Calibri" pitchFamily="34" charset="-120"/>
              </a:rPr>
              <a:t>Gold</a:t>
            </a:r>
            <a:endParaRPr lang="en-US" sz="5200" dirty="0"/>
          </a:p>
        </p:txBody>
      </p:sp>
      <p:sp>
        <p:nvSpPr>
          <p:cNvPr id="14" name="status__kpi4__label"/>
          <p:cNvSpPr txBox="1"/>
          <p:nvPr/>
        </p:nvSpPr>
        <p:spPr>
          <a:xfrm>
            <a:off x="9394920" y="3675888"/>
            <a:ext cx="1927507" cy="790042"/>
          </a:xfrm>
          <a:prstGeom prst="rect">
            <a:avLst/>
          </a:prstGeom>
          <a:noFill/>
          <a:ln/>
        </p:spPr>
        <p:txBody>
          <a:bodyPr wrap="square" lIns="0" tIns="0" rIns="0" bIns="0" rtlCol="0" anchor="t"/>
          <a:lstStyle/>
          <a:p>
            <a:pPr algn="l" indent="0" marL="0">
              <a:buNone/>
            </a:pPr>
            <a:r>
              <a:rPr lang="en-US" sz="1600" dirty="0">
                <a:solidFill>
                  <a:srgbClr val="16203A"/>
                </a:solidFill>
                <a:latin typeface="Calibri" pitchFamily="34" charset="0"/>
                <a:ea typeface="Calibri" pitchFamily="34" charset="-122"/>
                <a:cs typeface="Calibri" pitchFamily="34" charset="-120"/>
              </a:rPr>
              <a:t>Olympiad-level maths performance (2025)</a:t>
            </a:r>
            <a:endParaRPr lang="en-US" sz="1600" dirty="0"/>
          </a:p>
        </p:txBody>
      </p:sp>
      <p:sp>
        <p:nvSpPr>
          <p:cNvPr id="15" name="status__footnote__text"/>
          <p:cNvSpPr txBox="1"/>
          <p:nvPr/>
        </p:nvSpPr>
        <p:spPr>
          <a:xfrm>
            <a:off x="548626" y="5440451"/>
            <a:ext cx="11094443" cy="411480"/>
          </a:xfrm>
          <a:prstGeom prst="rect">
            <a:avLst/>
          </a:prstGeom>
          <a:noFill/>
          <a:ln/>
        </p:spPr>
        <p:txBody>
          <a:bodyPr wrap="square" lIns="0" tIns="0" rIns="0" bIns="0" rtlCol="0" anchor="t"/>
          <a:lstStyle/>
          <a:p>
            <a:pPr algn="l" indent="0" marL="0">
              <a:buNone/>
            </a:pPr>
            <a:r>
              <a:rPr lang="en-US" sz="1200" dirty="0">
                <a:solidFill>
                  <a:srgbClr val="5B6474"/>
                </a:solidFill>
                <a:latin typeface="Calibri" pitchFamily="34" charset="0"/>
                <a:ea typeface="Calibri" pitchFamily="34" charset="-122"/>
                <a:cs typeface="Calibri" pitchFamily="34" charset="-120"/>
              </a:rPr>
              <a:t>Sources: Epoch AI (2024–25); International AI Safety Report 2026</a:t>
            </a:r>
            <a:endParaRPr lang="en-US" sz="1200" dirty="0"/>
          </a:p>
        </p:txBody>
      </p:sp>
      <p:sp>
        <p:nvSpPr>
          <p:cNvPr id="25" name="Slide Number Placeholder 0"/>
          <p:cNvSpPr>
            <a:spLocks noGrp="1"/>
          </p:cNvSpPr>
          <p:nvPr>
            <p:ph type="sldNum" sz="quarter" idx="4294967295"/>
          </p:nvPr>
        </p:nvSpPr>
        <p:spPr>
          <a:xfrm>
            <a:off x="9505993" y="6355080"/>
            <a:ext cx="54864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5B6474"/>
                </a:solidFill>
                <a:latin typeface="Calibri"/>
                <a:ea typeface="Calibri"/>
                <a:cs typeface="Calibri"/>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insight_panel"/>
          <p:cNvSpPr/>
          <p:nvPr/>
        </p:nvSpPr>
        <p:spPr>
          <a:xfrm>
            <a:off x="8076380" y="1600200"/>
            <a:ext cx="3566087" cy="4389120"/>
          </a:xfrm>
          <a:prstGeom prst="roundRect">
            <a:avLst>
              <a:gd name="adj" fmla="val 3077"/>
            </a:avLst>
          </a:prstGeom>
          <a:solidFill>
            <a:srgbClr val="EFF0F5"/>
          </a:solidFill>
          <a:ln w="12700">
            <a:solidFill>
              <a:srgbClr val="EFF0F5"/>
            </a:solidFill>
            <a:prstDash val="solid"/>
          </a:ln>
        </p:spPr>
      </p:sp>
      <p:sp>
        <p:nvSpPr>
          <p:cNvPr id="3" name="forecasts__title__text"/>
          <p:cNvSpPr txBox="1"/>
          <p:nvPr/>
        </p:nvSpPr>
        <p:spPr>
          <a:xfrm>
            <a:off x="548626" y="457429"/>
            <a:ext cx="11094443" cy="960120"/>
          </a:xfrm>
          <a:prstGeom prst="rect">
            <a:avLst/>
          </a:prstGeom>
          <a:noFill/>
          <a:ln/>
        </p:spPr>
        <p:txBody>
          <a:bodyPr wrap="square" lIns="0" tIns="0" rIns="0" bIns="0" rtlCol="0" anchor="t"/>
          <a:lstStyle/>
          <a:p>
            <a:pPr algn="l" indent="0" marL="0">
              <a:buNone/>
            </a:pPr>
            <a:r>
              <a:rPr lang="en-US" sz="3200" b="1" dirty="0">
                <a:solidFill>
                  <a:srgbClr val="16203A"/>
                </a:solidFill>
                <a:latin typeface="Calibri" pitchFamily="34" charset="0"/>
                <a:ea typeface="Calibri" pitchFamily="34" charset="-122"/>
                <a:cs typeface="Calibri" pitchFamily="34" charset="-120"/>
              </a:rPr>
              <a:t>Experts keep pulling their forecasts forward</a:t>
            </a:r>
            <a:endParaRPr lang="en-US" sz="3200" dirty="0"/>
          </a:p>
        </p:txBody>
      </p:sp>
      <p:graphicFrame>
        <p:nvGraphicFramePr>
          <p:cNvPr id="4" name="forecasts__chart__main" descr="Year with a 50% chance of human-level AI, by survey (forecast year). 50% forecast year: 2016 survey 2061, 2022 survey 2059, 2023 survey 2047, 2024 survey 2042"/>
          <p:cNvGraphicFramePr/>
          <p:nvPr/>
        </p:nvGraphicFramePr>
        <p:xfrm>
          <a:off x="548626" y="1599971"/>
          <a:ext cx="7162621" cy="4389120"/>
        </p:xfrm>
        <a:graphic xmlns:a="http://schemas.openxmlformats.org/drawingml/2006/main">
          <a:graphicData uri="http://schemas.openxmlformats.org/drawingml/2006/chart">
            <c:chart xmlns:c="http://schemas.openxmlformats.org/drawingml/2006/chart" r:id="rId1"/>
          </a:graphicData>
        </a:graphic>
      </p:graphicFrame>
      <p:sp>
        <p:nvSpPr>
          <p:cNvPr id="5" name="forecasts__insight1__insight"/>
          <p:cNvSpPr txBox="1"/>
          <p:nvPr/>
        </p:nvSpPr>
        <p:spPr>
          <a:xfrm>
            <a:off x="8396420" y="1920240"/>
            <a:ext cx="2926007" cy="1112368"/>
          </a:xfrm>
          <a:prstGeom prst="rect">
            <a:avLst/>
          </a:prstGeom>
          <a:noFill/>
          <a:ln/>
        </p:spPr>
        <p:txBody>
          <a:bodyPr wrap="square" lIns="0" tIns="0" rIns="0" bIns="0" rtlCol="0" anchor="t"/>
          <a:lstStyle/>
          <a:p>
            <a:pPr algn="l" indent="0" marL="0">
              <a:spcAft>
                <a:spcPts val="600"/>
              </a:spcAft>
              <a:buNone/>
            </a:pPr>
            <a:r>
              <a:rPr lang="en-US" sz="2000" dirty="0">
                <a:solidFill>
                  <a:srgbClr val="16203A"/>
                </a:solidFill>
                <a:latin typeface="Calibri" pitchFamily="34" charset="0"/>
                <a:ea typeface="Calibri" pitchFamily="34" charset="-122"/>
                <a:cs typeface="Calibri" pitchFamily="34" charset="-120"/>
              </a:rPr>
              <a:t>The horizon shrank from 45 years to 18 in eight years</a:t>
            </a:r>
            <a:endParaRPr lang="en-US" sz="2000" dirty="0"/>
          </a:p>
        </p:txBody>
      </p:sp>
      <p:sp>
        <p:nvSpPr>
          <p:cNvPr id="6" name="forecasts__insight2__insight"/>
          <p:cNvSpPr txBox="1"/>
          <p:nvPr/>
        </p:nvSpPr>
        <p:spPr>
          <a:xfrm>
            <a:off x="8396420" y="3169768"/>
            <a:ext cx="2926007" cy="1112368"/>
          </a:xfrm>
          <a:prstGeom prst="rect">
            <a:avLst/>
          </a:prstGeom>
          <a:noFill/>
          <a:ln/>
        </p:spPr>
        <p:txBody>
          <a:bodyPr wrap="square" lIns="0" tIns="0" rIns="0" bIns="0" rtlCol="0" anchor="t"/>
          <a:lstStyle/>
          <a:p>
            <a:pPr algn="l" indent="0" marL="0">
              <a:spcAft>
                <a:spcPts val="600"/>
              </a:spcAft>
              <a:buNone/>
            </a:pPr>
            <a:r>
              <a:rPr lang="en-US" sz="2000" dirty="0">
                <a:solidFill>
                  <a:srgbClr val="16203A"/>
                </a:solidFill>
                <a:latin typeface="Calibri" pitchFamily="34" charset="0"/>
                <a:ea typeface="Calibri" pitchFamily="34" charset="-122"/>
                <a:cs typeface="Calibri" pitchFamily="34" charset="-120"/>
              </a:rPr>
              <a:t>About 3.4 years closer for every year that passed</a:t>
            </a:r>
            <a:endParaRPr lang="en-US" sz="2000" dirty="0"/>
          </a:p>
        </p:txBody>
      </p:sp>
      <p:sp>
        <p:nvSpPr>
          <p:cNvPr id="7" name="forecasts__insight3__insight"/>
          <p:cNvSpPr txBox="1"/>
          <p:nvPr/>
        </p:nvSpPr>
        <p:spPr>
          <a:xfrm>
            <a:off x="8396420" y="4419295"/>
            <a:ext cx="2926007" cy="1112368"/>
          </a:xfrm>
          <a:prstGeom prst="rect">
            <a:avLst/>
          </a:prstGeom>
          <a:noFill/>
          <a:ln/>
        </p:spPr>
        <p:txBody>
          <a:bodyPr wrap="square" lIns="0" tIns="0" rIns="0" bIns="0" rtlCol="0" anchor="t"/>
          <a:lstStyle/>
          <a:p>
            <a:pPr algn="l" indent="0" marL="0">
              <a:spcAft>
                <a:spcPts val="600"/>
              </a:spcAft>
              <a:buNone/>
            </a:pPr>
            <a:r>
              <a:rPr lang="en-US" sz="2000" dirty="0">
                <a:solidFill>
                  <a:srgbClr val="16203A"/>
                </a:solidFill>
                <a:latin typeface="Calibri" pitchFamily="34" charset="0"/>
                <a:ea typeface="Calibri" pitchFamily="34" charset="-122"/>
                <a:cs typeface="Calibri" pitchFamily="34" charset="-120"/>
              </a:rPr>
              <a:t>Researchers stress the uncertainty is still very wide</a:t>
            </a:r>
            <a:endParaRPr lang="en-US" sz="2000" dirty="0"/>
          </a:p>
        </p:txBody>
      </p:sp>
      <p:sp>
        <p:nvSpPr>
          <p:cNvPr id="25" name="Slide Number Placeholder 0"/>
          <p:cNvSpPr>
            <a:spLocks noGrp="1"/>
          </p:cNvSpPr>
          <p:nvPr>
            <p:ph type="sldNum" sz="quarter" idx="4294967295"/>
          </p:nvPr>
        </p:nvSpPr>
        <p:spPr>
          <a:xfrm>
            <a:off x="9505993" y="6355080"/>
            <a:ext cx="54864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5B6474"/>
                </a:solidFill>
                <a:latin typeface="Calibri"/>
                <a:ea typeface="Calibri"/>
                <a:cs typeface="Calibri"/>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left_panel"/>
          <p:cNvSpPr/>
          <p:nvPr/>
        </p:nvSpPr>
        <p:spPr>
          <a:xfrm>
            <a:off x="549228" y="1600200"/>
            <a:ext cx="5318033" cy="4361459"/>
          </a:xfrm>
          <a:prstGeom prst="roundRect">
            <a:avLst>
              <a:gd name="adj" fmla="val 2516"/>
            </a:avLst>
          </a:prstGeom>
          <a:solidFill>
            <a:srgbClr val="EDEEF3"/>
          </a:solidFill>
          <a:ln w="12700">
            <a:solidFill>
              <a:srgbClr val="EDEEF3"/>
            </a:solidFill>
            <a:prstDash val="solid"/>
          </a:ln>
        </p:spPr>
      </p:sp>
      <p:sp>
        <p:nvSpPr>
          <p:cNvPr id="3" name="right_panel"/>
          <p:cNvSpPr/>
          <p:nvPr/>
        </p:nvSpPr>
        <p:spPr>
          <a:xfrm>
            <a:off x="6324434" y="1600200"/>
            <a:ext cx="5318033" cy="4361459"/>
          </a:xfrm>
          <a:prstGeom prst="roundRect">
            <a:avLst>
              <a:gd name="adj" fmla="val 2516"/>
            </a:avLst>
          </a:prstGeom>
          <a:solidFill>
            <a:srgbClr val="E2F4F6"/>
          </a:solidFill>
          <a:ln w="12700">
            <a:solidFill>
              <a:srgbClr val="E2F4F6"/>
            </a:solidFill>
            <a:prstDash val="solid"/>
          </a:ln>
        </p:spPr>
      </p:sp>
      <p:sp>
        <p:nvSpPr>
          <p:cNvPr id="4" name="gap__title__text"/>
          <p:cNvSpPr txBox="1"/>
          <p:nvPr/>
        </p:nvSpPr>
        <p:spPr>
          <a:xfrm>
            <a:off x="548626" y="457429"/>
            <a:ext cx="11094443" cy="960120"/>
          </a:xfrm>
          <a:prstGeom prst="rect">
            <a:avLst/>
          </a:prstGeom>
          <a:noFill/>
          <a:ln/>
        </p:spPr>
        <p:txBody>
          <a:bodyPr wrap="square" lIns="0" tIns="0" rIns="0" bIns="0" rtlCol="0" anchor="t"/>
          <a:lstStyle/>
          <a:p>
            <a:pPr algn="l" indent="0" marL="0">
              <a:buNone/>
            </a:pPr>
            <a:r>
              <a:rPr lang="en-US" sz="3200" b="1" dirty="0">
                <a:solidFill>
                  <a:srgbClr val="16203A"/>
                </a:solidFill>
                <a:latin typeface="Calibri" pitchFamily="34" charset="0"/>
                <a:ea typeface="Calibri" pitchFamily="34" charset="-122"/>
                <a:cs typeface="Calibri" pitchFamily="34" charset="-120"/>
              </a:rPr>
              <a:t>Today's frontier AI is not superintelligence yet</a:t>
            </a:r>
            <a:endParaRPr lang="en-US" sz="3200" dirty="0"/>
          </a:p>
        </p:txBody>
      </p:sp>
      <p:sp>
        <p:nvSpPr>
          <p:cNvPr id="5" name="gap__left__heading"/>
          <p:cNvSpPr txBox="1"/>
          <p:nvPr/>
        </p:nvSpPr>
        <p:spPr>
          <a:xfrm>
            <a:off x="869268" y="1874291"/>
            <a:ext cx="4677953" cy="548640"/>
          </a:xfrm>
          <a:prstGeom prst="rect">
            <a:avLst/>
          </a:prstGeom>
          <a:noFill/>
          <a:ln/>
        </p:spPr>
        <p:txBody>
          <a:bodyPr wrap="square" lIns="0" tIns="0" rIns="0" bIns="0" rtlCol="0" anchor="t"/>
          <a:lstStyle/>
          <a:p>
            <a:pPr algn="l" indent="0" marL="0">
              <a:buNone/>
            </a:pPr>
            <a:r>
              <a:rPr lang="en-US" sz="2200" b="1" dirty="0">
                <a:solidFill>
                  <a:srgbClr val="1B2A6B"/>
                </a:solidFill>
                <a:latin typeface="Calibri" pitchFamily="34" charset="0"/>
                <a:ea typeface="Calibri" pitchFamily="34" charset="-122"/>
                <a:cs typeface="Calibri" pitchFamily="34" charset="-120"/>
              </a:rPr>
              <a:t>Frontier AI in 2026</a:t>
            </a:r>
            <a:endParaRPr lang="en-US" sz="2200" dirty="0"/>
          </a:p>
        </p:txBody>
      </p:sp>
      <p:sp>
        <p:nvSpPr>
          <p:cNvPr id="6" name="gap__left__bullets"/>
          <p:cNvSpPr txBox="1"/>
          <p:nvPr/>
        </p:nvSpPr>
        <p:spPr>
          <a:xfrm>
            <a:off x="869268" y="2560091"/>
            <a:ext cx="4677953" cy="3081299"/>
          </a:xfrm>
          <a:prstGeom prst="rect">
            <a:avLst/>
          </a:prstGeom>
          <a:noFill/>
          <a:ln/>
        </p:spPr>
        <p:txBody>
          <a:bodyPr wrap="square" lIns="0" tIns="0" rIns="0" bIns="0" rtlCol="0" anchor="t"/>
          <a:lstStyle/>
          <a:p>
            <a:pPr algn="l" marL="292100" indent="-292100">
              <a:spcAft>
                <a:spcPts val="1100"/>
              </a:spcAft>
              <a:buSzPct val="100000"/>
              <a:buChar char="•"/>
            </a:pPr>
            <a:r>
              <a:rPr lang="en-US" sz="2000" dirty="0">
                <a:solidFill>
                  <a:srgbClr val="16203A"/>
                </a:solidFill>
                <a:latin typeface="Calibri" pitchFamily="34" charset="0"/>
                <a:ea typeface="Calibri" pitchFamily="34" charset="-122"/>
                <a:cs typeface="Calibri" pitchFamily="34" charset="-120"/>
              </a:rPr>
              <a:t>Gold-medal level on olympiad maths problems</a:t>
            </a:r>
            <a:endParaRPr lang="en-US" sz="2000" dirty="0"/>
          </a:p>
          <a:p>
            <a:pPr algn="l" marL="292100" indent="-292100">
              <a:spcAft>
                <a:spcPts val="1100"/>
              </a:spcAft>
              <a:buSzPct val="100000"/>
              <a:buChar char="•"/>
            </a:pPr>
            <a:r>
              <a:rPr lang="en-US" sz="2000" dirty="0">
                <a:solidFill>
                  <a:srgbClr val="16203A"/>
                </a:solidFill>
                <a:latin typeface="Calibri" pitchFamily="34" charset="0"/>
                <a:ea typeface="Calibri" pitchFamily="34" charset="-122"/>
                <a:cs typeface="Calibri" pitchFamily="34" charset="-120"/>
              </a:rPr>
              <a:t>Passes licensing exams in medicine and law</a:t>
            </a:r>
            <a:endParaRPr lang="en-US" sz="2000" dirty="0"/>
          </a:p>
          <a:p>
            <a:pPr algn="l" marL="292100" indent="-292100">
              <a:spcAft>
                <a:spcPts val="1100"/>
              </a:spcAft>
              <a:buSzPct val="100000"/>
              <a:buChar char="•"/>
            </a:pPr>
            <a:r>
              <a:rPr lang="en-US" sz="2000" dirty="0">
                <a:solidFill>
                  <a:srgbClr val="16203A"/>
                </a:solidFill>
                <a:latin typeface="Calibri" pitchFamily="34" charset="0"/>
                <a:ea typeface="Calibri" pitchFamily="34" charset="-122"/>
                <a:cs typeface="Calibri" pitchFamily="34" charset="-120"/>
              </a:rPr>
              <a:t>Agents complete software tasks of about 30 minutes</a:t>
            </a:r>
            <a:endParaRPr lang="en-US" sz="2000" dirty="0"/>
          </a:p>
          <a:p>
            <a:pPr algn="l" marL="292100" indent="-292100">
              <a:spcAft>
                <a:spcPts val="1100"/>
              </a:spcAft>
              <a:buSzPct val="100000"/>
              <a:buChar char="•"/>
            </a:pPr>
            <a:r>
              <a:rPr lang="en-US" sz="2000" dirty="0">
                <a:solidFill>
                  <a:srgbClr val="16203A"/>
                </a:solidFill>
                <a:latin typeface="Calibri" pitchFamily="34" charset="0"/>
                <a:ea typeface="Calibri" pitchFamily="34" charset="-122"/>
                <a:cs typeface="Calibri" pitchFamily="34" charset="-120"/>
              </a:rPr>
              <a:t>Still fails in unexpected, hard-to-predict ways</a:t>
            </a:r>
            <a:endParaRPr lang="en-US" sz="2000" dirty="0"/>
          </a:p>
        </p:txBody>
      </p:sp>
      <p:sp>
        <p:nvSpPr>
          <p:cNvPr id="7" name="gap__right__heading"/>
          <p:cNvSpPr txBox="1"/>
          <p:nvPr/>
        </p:nvSpPr>
        <p:spPr>
          <a:xfrm>
            <a:off x="6644474" y="1874291"/>
            <a:ext cx="4677953" cy="548640"/>
          </a:xfrm>
          <a:prstGeom prst="rect">
            <a:avLst/>
          </a:prstGeom>
          <a:noFill/>
          <a:ln/>
        </p:spPr>
        <p:txBody>
          <a:bodyPr wrap="square" lIns="0" tIns="0" rIns="0" bIns="0" rtlCol="0" anchor="t"/>
          <a:lstStyle/>
          <a:p>
            <a:pPr algn="l" indent="0" marL="0">
              <a:buNone/>
            </a:pPr>
            <a:r>
              <a:rPr lang="en-US" sz="2200" b="1" dirty="0">
                <a:solidFill>
                  <a:srgbClr val="16203A"/>
                </a:solidFill>
                <a:latin typeface="Calibri" pitchFamily="34" charset="0"/>
                <a:ea typeface="Calibri" pitchFamily="34" charset="-122"/>
                <a:cs typeface="Calibri" pitchFamily="34" charset="-120"/>
              </a:rPr>
              <a:t>Superintelligence</a:t>
            </a:r>
            <a:endParaRPr lang="en-US" sz="2200" dirty="0"/>
          </a:p>
        </p:txBody>
      </p:sp>
      <p:sp>
        <p:nvSpPr>
          <p:cNvPr id="8" name="gap__right__bullets"/>
          <p:cNvSpPr txBox="1"/>
          <p:nvPr/>
        </p:nvSpPr>
        <p:spPr>
          <a:xfrm>
            <a:off x="6644474" y="2560091"/>
            <a:ext cx="4677953" cy="2461336"/>
          </a:xfrm>
          <a:prstGeom prst="rect">
            <a:avLst/>
          </a:prstGeom>
          <a:noFill/>
          <a:ln/>
        </p:spPr>
        <p:txBody>
          <a:bodyPr wrap="square" lIns="0" tIns="0" rIns="0" bIns="0" rtlCol="0" anchor="t"/>
          <a:lstStyle/>
          <a:p>
            <a:pPr algn="l" marL="292100" indent="-292100">
              <a:spcAft>
                <a:spcPts val="1100"/>
              </a:spcAft>
              <a:buSzPct val="100000"/>
              <a:buChar char="•"/>
            </a:pPr>
            <a:r>
              <a:rPr lang="en-US" sz="2000" dirty="0">
                <a:solidFill>
                  <a:srgbClr val="16203A"/>
                </a:solidFill>
                <a:latin typeface="Calibri" pitchFamily="34" charset="0"/>
                <a:ea typeface="Calibri" pitchFamily="34" charset="-122"/>
                <a:cs typeface="Calibri" pitchFamily="34" charset="-120"/>
              </a:rPr>
              <a:t>Beats the best humans in virtually every domain</a:t>
            </a:r>
            <a:endParaRPr lang="en-US" sz="2000" dirty="0"/>
          </a:p>
          <a:p>
            <a:pPr algn="l" marL="292100" indent="-292100">
              <a:spcAft>
                <a:spcPts val="1100"/>
              </a:spcAft>
              <a:buSzPct val="100000"/>
              <a:buChar char="•"/>
            </a:pPr>
            <a:r>
              <a:rPr lang="en-US" sz="2000" dirty="0">
                <a:solidFill>
                  <a:srgbClr val="16203A"/>
                </a:solidFill>
                <a:latin typeface="Calibri" pitchFamily="34" charset="0"/>
                <a:ea typeface="Calibri" pitchFamily="34" charset="-122"/>
                <a:cs typeface="Calibri" pitchFamily="34" charset="-120"/>
              </a:rPr>
              <a:t>Plans and acts reliably over long horizons</a:t>
            </a:r>
            <a:endParaRPr lang="en-US" sz="2000" dirty="0"/>
          </a:p>
          <a:p>
            <a:pPr algn="l" marL="292100" indent="-292100">
              <a:spcAft>
                <a:spcPts val="1100"/>
              </a:spcAft>
              <a:buSzPct val="100000"/>
              <a:buChar char="•"/>
            </a:pPr>
            <a:r>
              <a:rPr lang="en-US" sz="2000" dirty="0">
                <a:solidFill>
                  <a:srgbClr val="16203A"/>
                </a:solidFill>
                <a:latin typeface="Calibri" pitchFamily="34" charset="0"/>
                <a:ea typeface="Calibri" pitchFamily="34" charset="-122"/>
                <a:cs typeface="Calibri" pitchFamily="34" charset="-120"/>
              </a:rPr>
              <a:t>Could speed up AI research itself</a:t>
            </a:r>
            <a:endParaRPr lang="en-US" sz="2000" dirty="0"/>
          </a:p>
          <a:p>
            <a:pPr algn="l" marL="292100" indent="-292100">
              <a:spcAft>
                <a:spcPts val="1100"/>
              </a:spcAft>
              <a:buSzPct val="100000"/>
              <a:buChar char="•"/>
            </a:pPr>
            <a:r>
              <a:rPr lang="en-US" sz="2000" dirty="0">
                <a:solidFill>
                  <a:srgbClr val="16203A"/>
                </a:solidFill>
                <a:latin typeface="Calibri" pitchFamily="34" charset="0"/>
                <a:ea typeface="Calibri" pitchFamily="34" charset="-122"/>
                <a:cs typeface="Calibri" pitchFamily="34" charset="-120"/>
              </a:rPr>
              <a:t>Outcome hinges on goals staying aligned with ours</a:t>
            </a:r>
            <a:endParaRPr lang="en-US" sz="2000" dirty="0"/>
          </a:p>
        </p:txBody>
      </p:sp>
      <p:sp>
        <p:nvSpPr>
          <p:cNvPr id="25" name="Slide Number Placeholder 0"/>
          <p:cNvSpPr>
            <a:spLocks noGrp="1"/>
          </p:cNvSpPr>
          <p:nvPr>
            <p:ph type="sldNum" sz="quarter" idx="4294967295"/>
          </p:nvPr>
        </p:nvSpPr>
        <p:spPr>
          <a:xfrm>
            <a:off x="9505993" y="6355080"/>
            <a:ext cx="54864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5B6474"/>
                </a:solidFill>
                <a:latin typeface="Calibri"/>
                <a:ea typeface="Calibri"/>
                <a:cs typeface="Calibri"/>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researchers__title__text"/>
          <p:cNvSpPr txBox="1"/>
          <p:nvPr/>
        </p:nvSpPr>
        <p:spPr>
          <a:xfrm>
            <a:off x="548626" y="457429"/>
            <a:ext cx="11094443" cy="960120"/>
          </a:xfrm>
          <a:prstGeom prst="rect">
            <a:avLst/>
          </a:prstGeom>
          <a:noFill/>
          <a:ln/>
        </p:spPr>
        <p:txBody>
          <a:bodyPr wrap="square" lIns="0" tIns="0" rIns="0" bIns="0" rtlCol="0" anchor="t"/>
          <a:lstStyle/>
          <a:p>
            <a:pPr algn="l" indent="0" marL="0">
              <a:buNone/>
            </a:pPr>
            <a:r>
              <a:rPr lang="en-US" sz="3200" b="1" dirty="0">
                <a:solidFill>
                  <a:srgbClr val="16203A"/>
                </a:solidFill>
                <a:latin typeface="Calibri" pitchFamily="34" charset="0"/>
                <a:ea typeface="Calibri" pitchFamily="34" charset="-122"/>
                <a:cs typeface="Calibri" pitchFamily="34" charset="-120"/>
              </a:rPr>
              <a:t>Most AI researchers want safety work to move faster</a:t>
            </a:r>
            <a:endParaRPr lang="en-US" sz="3200" dirty="0"/>
          </a:p>
        </p:txBody>
      </p:sp>
      <p:sp>
        <p:nvSpPr>
          <p:cNvPr id="3" name="researchers__statement__statement"/>
          <p:cNvSpPr txBox="1"/>
          <p:nvPr/>
        </p:nvSpPr>
        <p:spPr>
          <a:xfrm>
            <a:off x="548626" y="1783080"/>
            <a:ext cx="9097443" cy="2194560"/>
          </a:xfrm>
          <a:prstGeom prst="rect">
            <a:avLst/>
          </a:prstGeom>
          <a:noFill/>
          <a:ln/>
        </p:spPr>
        <p:txBody>
          <a:bodyPr wrap="square" lIns="0" tIns="0" rIns="0" bIns="0" rtlCol="0" anchor="t"/>
          <a:lstStyle/>
          <a:p>
            <a:pPr algn="l" indent="0" marL="0">
              <a:buNone/>
            </a:pPr>
            <a:r>
              <a:rPr lang="en-US" sz="3600" b="1" dirty="0">
                <a:solidFill>
                  <a:srgbClr val="1B2A6B"/>
                </a:solidFill>
                <a:latin typeface="Calibri" pitchFamily="34" charset="0"/>
                <a:ea typeface="Calibri" pitchFamily="34" charset="-122"/>
                <a:cs typeface="Calibri" pitchFamily="34" charset="-120"/>
              </a:rPr>
              <a:t>72% of surveyed AI researchers want AI-risk research prioritised more than it is today.</a:t>
            </a:r>
            <a:endParaRPr lang="en-US" sz="3600" dirty="0"/>
          </a:p>
        </p:txBody>
      </p:sp>
      <p:sp>
        <p:nvSpPr>
          <p:cNvPr id="4" name="researchers__support__text"/>
          <p:cNvSpPr txBox="1"/>
          <p:nvPr/>
        </p:nvSpPr>
        <p:spPr>
          <a:xfrm>
            <a:off x="548626" y="4160749"/>
            <a:ext cx="7766110" cy="1829029"/>
          </a:xfrm>
          <a:prstGeom prst="rect">
            <a:avLst/>
          </a:prstGeom>
          <a:noFill/>
          <a:ln/>
        </p:spPr>
        <p:txBody>
          <a:bodyPr wrap="square" lIns="0" tIns="0" rIns="0" bIns="0" rtlCol="0" anchor="t"/>
          <a:lstStyle/>
          <a:p>
            <a:pPr algn="l" indent="0" marL="0">
              <a:buNone/>
            </a:pPr>
            <a:r>
              <a:rPr lang="en-US" sz="2000" dirty="0">
                <a:solidFill>
                  <a:srgbClr val="16203A"/>
                </a:solidFill>
                <a:latin typeface="Calibri" pitchFamily="34" charset="0"/>
                <a:ea typeface="Calibri" pitchFamily="34" charset="-122"/>
                <a:cs typeface="Calibri" pitchFamily="34" charset="-120"/>
              </a:rPr>
              <a:t>Same survey of 1,580 researchers (December 2024): the median respondent put a 10% chance on outcomes as severe as human extinction or permanent disempowerment.</a:t>
            </a:r>
            <a:endParaRPr lang="en-US" sz="2000" dirty="0"/>
          </a:p>
        </p:txBody>
      </p:sp>
      <p:sp>
        <p:nvSpPr>
          <p:cNvPr id="25" name="Slide Number Placeholder 0"/>
          <p:cNvSpPr>
            <a:spLocks noGrp="1"/>
          </p:cNvSpPr>
          <p:nvPr>
            <p:ph type="sldNum" sz="quarter" idx="4294967295"/>
          </p:nvPr>
        </p:nvSpPr>
        <p:spPr>
          <a:xfrm>
            <a:off x="9505993" y="6355080"/>
            <a:ext cx="54864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5B6474"/>
                </a:solidFill>
                <a:latin typeface="Calibri"/>
                <a:ea typeface="Calibri"/>
                <a:cs typeface="Calibri"/>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akeaway_panel"/>
          <p:cNvSpPr/>
          <p:nvPr/>
        </p:nvSpPr>
        <p:spPr>
          <a:xfrm>
            <a:off x="8076380" y="1600200"/>
            <a:ext cx="3566087" cy="1920469"/>
          </a:xfrm>
          <a:prstGeom prst="roundRect">
            <a:avLst>
              <a:gd name="adj" fmla="val 5714"/>
            </a:avLst>
          </a:prstGeom>
          <a:solidFill>
            <a:srgbClr val="DDF2F4"/>
          </a:solidFill>
          <a:ln w="12700">
            <a:solidFill>
              <a:srgbClr val="DDF2F4"/>
            </a:solidFill>
            <a:prstDash val="solid"/>
          </a:ln>
        </p:spPr>
      </p:sp>
      <p:sp>
        <p:nvSpPr>
          <p:cNvPr id="3" name="open__title__text"/>
          <p:cNvSpPr txBox="1"/>
          <p:nvPr/>
        </p:nvSpPr>
        <p:spPr>
          <a:xfrm>
            <a:off x="548626" y="457429"/>
            <a:ext cx="11094443" cy="960120"/>
          </a:xfrm>
          <a:prstGeom prst="rect">
            <a:avLst/>
          </a:prstGeom>
          <a:noFill/>
          <a:ln/>
        </p:spPr>
        <p:txBody>
          <a:bodyPr wrap="square" lIns="0" tIns="0" rIns="0" bIns="0" rtlCol="0" anchor="t"/>
          <a:lstStyle/>
          <a:p>
            <a:pPr algn="l" indent="0" marL="0">
              <a:buNone/>
            </a:pPr>
            <a:r>
              <a:rPr lang="en-US" sz="3200" b="1" dirty="0">
                <a:solidFill>
                  <a:srgbClr val="16203A"/>
                </a:solidFill>
                <a:latin typeface="Calibri" pitchFamily="34" charset="0"/>
                <a:ea typeface="Calibri" pitchFamily="34" charset="-122"/>
                <a:cs typeface="Calibri" pitchFamily="34" charset="-120"/>
              </a:rPr>
              <a:t>Four open problems will decide how this goes</a:t>
            </a:r>
            <a:endParaRPr lang="en-US" sz="3200" dirty="0"/>
          </a:p>
        </p:txBody>
      </p:sp>
      <p:sp>
        <p:nvSpPr>
          <p:cNvPr id="4" name="open__body__bullets"/>
          <p:cNvSpPr txBox="1"/>
          <p:nvPr/>
        </p:nvSpPr>
        <p:spPr>
          <a:xfrm>
            <a:off x="548626" y="1599971"/>
            <a:ext cx="7071183" cy="4389120"/>
          </a:xfrm>
          <a:prstGeom prst="rect">
            <a:avLst/>
          </a:prstGeom>
          <a:noFill/>
          <a:ln/>
        </p:spPr>
        <p:txBody>
          <a:bodyPr wrap="square" lIns="0" tIns="0" rIns="0" bIns="0" rtlCol="0" anchor="t"/>
          <a:lstStyle/>
          <a:p>
            <a:pPr algn="l" marL="292100" indent="-292100">
              <a:spcAft>
                <a:spcPts val="1100"/>
              </a:spcAft>
              <a:buSzPct val="100000"/>
              <a:buChar char="•"/>
            </a:pPr>
            <a:r>
              <a:rPr lang="en-US" sz="2000" dirty="0">
                <a:solidFill>
                  <a:srgbClr val="16203A"/>
                </a:solidFill>
                <a:latin typeface="Calibri" pitchFamily="34" charset="0"/>
                <a:ea typeface="Calibri" pitchFamily="34" charset="-122"/>
                <a:cs typeface="Calibri" pitchFamily="34" charset="-120"/>
              </a:rPr>
              <a:t>Alignment: keeping goals and behaviour matched to human intent as capability grows</a:t>
            </a:r>
            <a:endParaRPr lang="en-US" sz="2000" dirty="0"/>
          </a:p>
          <a:p>
            <a:pPr algn="l" marL="292100" indent="-292100">
              <a:spcAft>
                <a:spcPts val="1100"/>
              </a:spcAft>
              <a:buSzPct val="100000"/>
              <a:buChar char="•"/>
            </a:pPr>
            <a:r>
              <a:rPr lang="en-US" sz="2000" dirty="0">
                <a:solidFill>
                  <a:srgbClr val="16203A"/>
                </a:solidFill>
                <a:latin typeface="Calibri" pitchFamily="34" charset="0"/>
                <a:ea typeface="Calibri" pitchFamily="34" charset="-122"/>
                <a:cs typeface="Calibri" pitchFamily="34" charset="-120"/>
              </a:rPr>
              <a:t>Evidence: capability moves faster than proof about risks and safeguards</a:t>
            </a:r>
            <a:endParaRPr lang="en-US" sz="2000" dirty="0"/>
          </a:p>
          <a:p>
            <a:pPr algn="l" marL="292100" indent="-292100">
              <a:spcAft>
                <a:spcPts val="1100"/>
              </a:spcAft>
              <a:buSzPct val="100000"/>
              <a:buChar char="•"/>
            </a:pPr>
            <a:r>
              <a:rPr lang="en-US" sz="2000" dirty="0">
                <a:solidFill>
                  <a:srgbClr val="16203A"/>
                </a:solidFill>
                <a:latin typeface="Calibri" pitchFamily="34" charset="0"/>
                <a:ea typeface="Calibri" pitchFamily="34" charset="-122"/>
                <a:cs typeface="Calibri" pitchFamily="34" charset="-120"/>
              </a:rPr>
              <a:t>Security: misuse in cyberattacks and fraud is already being observed</a:t>
            </a:r>
            <a:endParaRPr lang="en-US" sz="2000" dirty="0"/>
          </a:p>
          <a:p>
            <a:pPr algn="l" marL="292100" indent="-292100">
              <a:spcAft>
                <a:spcPts val="1100"/>
              </a:spcAft>
              <a:buSzPct val="100000"/>
              <a:buChar char="•"/>
            </a:pPr>
            <a:r>
              <a:rPr lang="en-US" sz="2000" dirty="0">
                <a:solidFill>
                  <a:srgbClr val="16203A"/>
                </a:solidFill>
                <a:latin typeface="Calibri" pitchFamily="34" charset="0"/>
                <a:ea typeface="Calibri" pitchFamily="34" charset="-122"/>
                <a:cs typeface="Calibri" pitchFamily="34" charset="-120"/>
              </a:rPr>
              <a:t>Governance: 12 firms publish safety frameworks, but rules stay uneven</a:t>
            </a:r>
            <a:endParaRPr lang="en-US" sz="2000" dirty="0"/>
          </a:p>
        </p:txBody>
      </p:sp>
      <p:sp>
        <p:nvSpPr>
          <p:cNvPr id="5" name="open__takeaway__takeaway"/>
          <p:cNvSpPr txBox="1"/>
          <p:nvPr/>
        </p:nvSpPr>
        <p:spPr>
          <a:xfrm>
            <a:off x="8396420" y="1920240"/>
            <a:ext cx="2926007" cy="1280389"/>
          </a:xfrm>
          <a:prstGeom prst="rect">
            <a:avLst/>
          </a:prstGeom>
          <a:noFill/>
          <a:ln/>
        </p:spPr>
        <p:txBody>
          <a:bodyPr wrap="square" lIns="0" tIns="0" rIns="0" bIns="0" rtlCol="0" anchor="t"/>
          <a:lstStyle/>
          <a:p>
            <a:pPr algn="l" indent="0" marL="0">
              <a:spcAft>
                <a:spcPts val="600"/>
              </a:spcAft>
              <a:buNone/>
            </a:pPr>
            <a:r>
              <a:rPr lang="en-US" sz="2000" dirty="0">
                <a:solidFill>
                  <a:srgbClr val="16203A"/>
                </a:solidFill>
                <a:latin typeface="Calibri" pitchFamily="34" charset="0"/>
                <a:ea typeface="Calibri" pitchFamily="34" charset="-122"/>
                <a:cs typeface="Calibri" pitchFamily="34" charset="-120"/>
              </a:rPr>
              <a:t>Capability is no longer the only question; control and access are.</a:t>
            </a:r>
            <a:endParaRPr lang="en-US" sz="2000" dirty="0"/>
          </a:p>
        </p:txBody>
      </p:sp>
      <p:sp>
        <p:nvSpPr>
          <p:cNvPr id="25" name="Slide Number Placeholder 0"/>
          <p:cNvSpPr>
            <a:spLocks noGrp="1"/>
          </p:cNvSpPr>
          <p:nvPr>
            <p:ph type="sldNum" sz="quarter" idx="4294967295"/>
          </p:nvPr>
        </p:nvSpPr>
        <p:spPr>
          <a:xfrm>
            <a:off x="9505993" y="6355080"/>
            <a:ext cx="54864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5B6474"/>
                </a:solidFill>
                <a:latin typeface="Calibri"/>
                <a:ea typeface="Calibri"/>
                <a:cs typeface="Calibri"/>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motif_large"/>
          <p:cNvSpPr/>
          <p:nvPr/>
        </p:nvSpPr>
        <p:spPr>
          <a:xfrm>
            <a:off x="8534187" y="-2194560"/>
            <a:ext cx="6515100" cy="6515100"/>
          </a:xfrm>
          <a:prstGeom prst="ellipse">
            <a:avLst/>
          </a:prstGeom>
          <a:solidFill>
            <a:srgbClr val="3B4880"/>
          </a:solidFill>
          <a:ln w="12700">
            <a:solidFill>
              <a:srgbClr val="3B4880"/>
            </a:solidFill>
            <a:prstDash val="solid"/>
          </a:ln>
        </p:spPr>
      </p:sp>
      <p:sp>
        <p:nvSpPr>
          <p:cNvPr id="3" name="close__title__text"/>
          <p:cNvSpPr txBox="1"/>
          <p:nvPr/>
        </p:nvSpPr>
        <p:spPr>
          <a:xfrm>
            <a:off x="640064" y="1188491"/>
            <a:ext cx="7558851" cy="1280389"/>
          </a:xfrm>
          <a:prstGeom prst="rect">
            <a:avLst/>
          </a:prstGeom>
          <a:noFill/>
          <a:ln/>
        </p:spPr>
        <p:txBody>
          <a:bodyPr wrap="square" lIns="0" tIns="0" rIns="0" bIns="0" rtlCol="0" anchor="t"/>
          <a:lstStyle/>
          <a:p>
            <a:pPr algn="l" indent="0" marL="0">
              <a:buNone/>
            </a:pPr>
            <a:r>
              <a:rPr lang="en-US" sz="4100" b="1" dirty="0">
                <a:solidFill>
                  <a:srgbClr val="FFFFFF"/>
                </a:solidFill>
                <a:latin typeface="Calibri" pitchFamily="34" charset="0"/>
                <a:ea typeface="Calibri" pitchFamily="34" charset="-122"/>
                <a:cs typeface="Calibri" pitchFamily="34" charset="-120"/>
              </a:rPr>
              <a:t>Prepare for superintelligence without betting on a date</a:t>
            </a:r>
            <a:endParaRPr lang="en-US" sz="4100" dirty="0"/>
          </a:p>
        </p:txBody>
      </p:sp>
      <p:sp>
        <p:nvSpPr>
          <p:cNvPr id="4" name="close__subtitle__text"/>
          <p:cNvSpPr txBox="1"/>
          <p:nvPr/>
        </p:nvSpPr>
        <p:spPr>
          <a:xfrm>
            <a:off x="640064" y="2514829"/>
            <a:ext cx="7558851" cy="731749"/>
          </a:xfrm>
          <a:prstGeom prst="rect">
            <a:avLst/>
          </a:prstGeom>
          <a:noFill/>
          <a:ln/>
        </p:spPr>
        <p:txBody>
          <a:bodyPr wrap="square" lIns="0" tIns="0" rIns="0" bIns="0" rtlCol="0" anchor="t"/>
          <a:lstStyle/>
          <a:p>
            <a:pPr algn="l" indent="0" marL="0">
              <a:buNone/>
            </a:pPr>
            <a:r>
              <a:rPr lang="en-US" sz="2000" dirty="0">
                <a:solidFill>
                  <a:srgbClr val="FFFFFF"/>
                </a:solidFill>
                <a:latin typeface="Calibri" pitchFamily="34" charset="0"/>
                <a:ea typeface="Calibri" pitchFamily="34" charset="-122"/>
                <a:cs typeface="Calibri" pitchFamily="34" charset="-120"/>
              </a:rPr>
              <a:t>Treat it as a planning scenario, not a prediction</a:t>
            </a:r>
            <a:endParaRPr lang="en-US" sz="2000" dirty="0"/>
          </a:p>
        </p:txBody>
      </p:sp>
      <p:sp>
        <p:nvSpPr>
          <p:cNvPr id="5" name="step1_badge"/>
          <p:cNvSpPr/>
          <p:nvPr/>
        </p:nvSpPr>
        <p:spPr>
          <a:xfrm>
            <a:off x="640064" y="3447517"/>
            <a:ext cx="475476" cy="475259"/>
          </a:xfrm>
          <a:prstGeom prst="ellipse">
            <a:avLst/>
          </a:prstGeom>
          <a:solidFill>
            <a:srgbClr val="0FA3B1"/>
          </a:solidFill>
          <a:ln w="12700">
            <a:solidFill>
              <a:srgbClr val="0FA3B1"/>
            </a:solidFill>
            <a:prstDash val="solid"/>
          </a:ln>
        </p:spPr>
      </p:sp>
      <p:sp>
        <p:nvSpPr>
          <p:cNvPr id="6" name="close__step1__number"/>
          <p:cNvSpPr txBox="1"/>
          <p:nvPr/>
        </p:nvSpPr>
        <p:spPr>
          <a:xfrm>
            <a:off x="640064" y="3447517"/>
            <a:ext cx="475476" cy="475259"/>
          </a:xfrm>
          <a:prstGeom prst="rect">
            <a:avLst/>
          </a:prstGeom>
          <a:noFill/>
          <a:ln/>
        </p:spPr>
        <p:txBody>
          <a:bodyPr wrap="square" lIns="0" tIns="0" rIns="0" bIns="0" rtlCol="0" anchor="ctr"/>
          <a:lstStyle/>
          <a:p>
            <a:pPr algn="ctr" indent="0" marL="0">
              <a:buNone/>
            </a:pPr>
            <a:r>
              <a:rPr lang="en-US" sz="1800" b="1" dirty="0">
                <a:solidFill>
                  <a:srgbClr val="16203A"/>
                </a:solidFill>
                <a:latin typeface="Calibri" pitchFamily="34" charset="0"/>
                <a:ea typeface="Calibri" pitchFamily="34" charset="-122"/>
                <a:cs typeface="Calibri" pitchFamily="34" charset="-120"/>
              </a:rPr>
              <a:t>1</a:t>
            </a:r>
            <a:endParaRPr lang="en-US" sz="1800" dirty="0"/>
          </a:p>
        </p:txBody>
      </p:sp>
      <p:sp>
        <p:nvSpPr>
          <p:cNvPr id="7" name="close__step1__text"/>
          <p:cNvSpPr txBox="1"/>
          <p:nvPr/>
        </p:nvSpPr>
        <p:spPr>
          <a:xfrm>
            <a:off x="1326456" y="3465347"/>
            <a:ext cx="7315017" cy="457429"/>
          </a:xfrm>
          <a:prstGeom prst="rect">
            <a:avLst/>
          </a:prstGeom>
          <a:noFill/>
          <a:ln/>
        </p:spPr>
        <p:txBody>
          <a:bodyPr wrap="square" lIns="0" tIns="0" rIns="0" bIns="0" rtlCol="0" anchor="t"/>
          <a:lstStyle/>
          <a:p>
            <a:pPr algn="l" indent="0" marL="0">
              <a:buNone/>
            </a:pPr>
            <a:r>
              <a:rPr lang="en-US" sz="2000" dirty="0">
                <a:solidFill>
                  <a:srgbClr val="FFFFFF"/>
                </a:solidFill>
                <a:latin typeface="Calibri" pitchFamily="34" charset="0"/>
                <a:ea typeface="Calibri" pitchFamily="34" charset="-122"/>
                <a:cs typeface="Calibri" pitchFamily="34" charset="-120"/>
              </a:rPr>
              <a:t>Review capability, cost and adoption signals every quarter</a:t>
            </a:r>
            <a:endParaRPr lang="en-US" sz="2000" dirty="0"/>
          </a:p>
        </p:txBody>
      </p:sp>
      <p:sp>
        <p:nvSpPr>
          <p:cNvPr id="8" name="step2_badge"/>
          <p:cNvSpPr/>
          <p:nvPr/>
        </p:nvSpPr>
        <p:spPr>
          <a:xfrm>
            <a:off x="640064" y="4068851"/>
            <a:ext cx="475476" cy="475259"/>
          </a:xfrm>
          <a:prstGeom prst="ellipse">
            <a:avLst/>
          </a:prstGeom>
          <a:solidFill>
            <a:srgbClr val="0FA3B1"/>
          </a:solidFill>
          <a:ln w="12700">
            <a:solidFill>
              <a:srgbClr val="0FA3B1"/>
            </a:solidFill>
            <a:prstDash val="solid"/>
          </a:ln>
        </p:spPr>
      </p:sp>
      <p:sp>
        <p:nvSpPr>
          <p:cNvPr id="9" name="close__step2__number"/>
          <p:cNvSpPr txBox="1"/>
          <p:nvPr/>
        </p:nvSpPr>
        <p:spPr>
          <a:xfrm>
            <a:off x="640064" y="4068851"/>
            <a:ext cx="475476" cy="475259"/>
          </a:xfrm>
          <a:prstGeom prst="rect">
            <a:avLst/>
          </a:prstGeom>
          <a:noFill/>
          <a:ln/>
        </p:spPr>
        <p:txBody>
          <a:bodyPr wrap="square" lIns="0" tIns="0" rIns="0" bIns="0" rtlCol="0" anchor="ctr"/>
          <a:lstStyle/>
          <a:p>
            <a:pPr algn="ctr" indent="0" marL="0">
              <a:buNone/>
            </a:pPr>
            <a:r>
              <a:rPr lang="en-US" sz="1800" b="1" dirty="0">
                <a:solidFill>
                  <a:srgbClr val="16203A"/>
                </a:solidFill>
                <a:latin typeface="Calibri" pitchFamily="34" charset="0"/>
                <a:ea typeface="Calibri" pitchFamily="34" charset="-122"/>
                <a:cs typeface="Calibri" pitchFamily="34" charset="-120"/>
              </a:rPr>
              <a:t>2</a:t>
            </a:r>
            <a:endParaRPr lang="en-US" sz="1800" dirty="0"/>
          </a:p>
        </p:txBody>
      </p:sp>
      <p:sp>
        <p:nvSpPr>
          <p:cNvPr id="10" name="close__step2__text"/>
          <p:cNvSpPr txBox="1"/>
          <p:nvPr/>
        </p:nvSpPr>
        <p:spPr>
          <a:xfrm>
            <a:off x="1326456" y="4087368"/>
            <a:ext cx="7315017" cy="457429"/>
          </a:xfrm>
          <a:prstGeom prst="rect">
            <a:avLst/>
          </a:prstGeom>
          <a:noFill/>
          <a:ln/>
        </p:spPr>
        <p:txBody>
          <a:bodyPr wrap="square" lIns="0" tIns="0" rIns="0" bIns="0" rtlCol="0" anchor="t"/>
          <a:lstStyle/>
          <a:p>
            <a:pPr algn="l" indent="0" marL="0">
              <a:buNone/>
            </a:pPr>
            <a:r>
              <a:rPr lang="en-US" sz="2000" dirty="0">
                <a:solidFill>
                  <a:srgbClr val="FFFFFF"/>
                </a:solidFill>
                <a:latin typeface="Calibri" pitchFamily="34" charset="0"/>
                <a:ea typeface="Calibri" pitchFamily="34" charset="-122"/>
                <a:cs typeface="Calibri" pitchFamily="34" charset="-120"/>
              </a:rPr>
              <a:t>Set our AI use policy, evaluations and incident response</a:t>
            </a:r>
            <a:endParaRPr lang="en-US" sz="2000" dirty="0"/>
          </a:p>
        </p:txBody>
      </p:sp>
      <p:sp>
        <p:nvSpPr>
          <p:cNvPr id="11" name="step3_badge"/>
          <p:cNvSpPr/>
          <p:nvPr/>
        </p:nvSpPr>
        <p:spPr>
          <a:xfrm>
            <a:off x="640064" y="4690872"/>
            <a:ext cx="475476" cy="475259"/>
          </a:xfrm>
          <a:prstGeom prst="ellipse">
            <a:avLst/>
          </a:prstGeom>
          <a:solidFill>
            <a:srgbClr val="0FA3B1"/>
          </a:solidFill>
          <a:ln w="12700">
            <a:solidFill>
              <a:srgbClr val="0FA3B1"/>
            </a:solidFill>
            <a:prstDash val="solid"/>
          </a:ln>
        </p:spPr>
      </p:sp>
      <p:sp>
        <p:nvSpPr>
          <p:cNvPr id="12" name="close__step3__number"/>
          <p:cNvSpPr txBox="1"/>
          <p:nvPr/>
        </p:nvSpPr>
        <p:spPr>
          <a:xfrm>
            <a:off x="640064" y="4690872"/>
            <a:ext cx="475476" cy="475259"/>
          </a:xfrm>
          <a:prstGeom prst="rect">
            <a:avLst/>
          </a:prstGeom>
          <a:noFill/>
          <a:ln/>
        </p:spPr>
        <p:txBody>
          <a:bodyPr wrap="square" lIns="0" tIns="0" rIns="0" bIns="0" rtlCol="0" anchor="ctr"/>
          <a:lstStyle/>
          <a:p>
            <a:pPr algn="ctr" indent="0" marL="0">
              <a:buNone/>
            </a:pPr>
            <a:r>
              <a:rPr lang="en-US" sz="1800" b="1" dirty="0">
                <a:solidFill>
                  <a:srgbClr val="16203A"/>
                </a:solidFill>
                <a:latin typeface="Calibri" pitchFamily="34" charset="0"/>
                <a:ea typeface="Calibri" pitchFamily="34" charset="-122"/>
                <a:cs typeface="Calibri" pitchFamily="34" charset="-120"/>
              </a:rPr>
              <a:t>3</a:t>
            </a:r>
            <a:endParaRPr lang="en-US" sz="1800" dirty="0"/>
          </a:p>
        </p:txBody>
      </p:sp>
      <p:sp>
        <p:nvSpPr>
          <p:cNvPr id="13" name="close__step3__text"/>
          <p:cNvSpPr txBox="1"/>
          <p:nvPr/>
        </p:nvSpPr>
        <p:spPr>
          <a:xfrm>
            <a:off x="1326456" y="4709389"/>
            <a:ext cx="7315017" cy="457429"/>
          </a:xfrm>
          <a:prstGeom prst="rect">
            <a:avLst/>
          </a:prstGeom>
          <a:noFill/>
          <a:ln/>
        </p:spPr>
        <p:txBody>
          <a:bodyPr wrap="square" lIns="0" tIns="0" rIns="0" bIns="0" rtlCol="0" anchor="t"/>
          <a:lstStyle/>
          <a:p>
            <a:pPr algn="l" indent="0" marL="0">
              <a:buNone/>
            </a:pPr>
            <a:r>
              <a:rPr lang="en-US" sz="2000" dirty="0">
                <a:solidFill>
                  <a:srgbClr val="FFFFFF"/>
                </a:solidFill>
                <a:latin typeface="Calibri" pitchFamily="34" charset="0"/>
                <a:ea typeface="Calibri" pitchFamily="34" charset="-122"/>
                <a:cs typeface="Calibri" pitchFamily="34" charset="-120"/>
              </a:rPr>
              <a:t>Back independent evaluation and common standards</a:t>
            </a:r>
            <a:endParaRPr lang="en-US" sz="2000" dirty="0"/>
          </a:p>
        </p:txBody>
      </p:sp>
      <p:sp>
        <p:nvSpPr>
          <p:cNvPr id="14" name="step4_badge"/>
          <p:cNvSpPr/>
          <p:nvPr/>
        </p:nvSpPr>
        <p:spPr>
          <a:xfrm>
            <a:off x="640064" y="5312893"/>
            <a:ext cx="475476" cy="475259"/>
          </a:xfrm>
          <a:prstGeom prst="ellipse">
            <a:avLst/>
          </a:prstGeom>
          <a:solidFill>
            <a:srgbClr val="0FA3B1"/>
          </a:solidFill>
          <a:ln w="12700">
            <a:solidFill>
              <a:srgbClr val="0FA3B1"/>
            </a:solidFill>
            <a:prstDash val="solid"/>
          </a:ln>
        </p:spPr>
      </p:sp>
      <p:sp>
        <p:nvSpPr>
          <p:cNvPr id="15" name="close__step4__number"/>
          <p:cNvSpPr txBox="1"/>
          <p:nvPr/>
        </p:nvSpPr>
        <p:spPr>
          <a:xfrm>
            <a:off x="640064" y="5312893"/>
            <a:ext cx="475476" cy="475259"/>
          </a:xfrm>
          <a:prstGeom prst="rect">
            <a:avLst/>
          </a:prstGeom>
          <a:noFill/>
          <a:ln/>
        </p:spPr>
        <p:txBody>
          <a:bodyPr wrap="square" lIns="0" tIns="0" rIns="0" bIns="0" rtlCol="0" anchor="ctr"/>
          <a:lstStyle/>
          <a:p>
            <a:pPr algn="ctr" indent="0" marL="0">
              <a:buNone/>
            </a:pPr>
            <a:r>
              <a:rPr lang="en-US" sz="1800" b="1" dirty="0">
                <a:solidFill>
                  <a:srgbClr val="16203A"/>
                </a:solidFill>
                <a:latin typeface="Calibri" pitchFamily="34" charset="0"/>
                <a:ea typeface="Calibri" pitchFamily="34" charset="-122"/>
                <a:cs typeface="Calibri" pitchFamily="34" charset="-120"/>
              </a:rPr>
              <a:t>4</a:t>
            </a:r>
            <a:endParaRPr lang="en-US" sz="1800" dirty="0"/>
          </a:p>
        </p:txBody>
      </p:sp>
      <p:sp>
        <p:nvSpPr>
          <p:cNvPr id="16" name="close__step4__text"/>
          <p:cNvSpPr txBox="1"/>
          <p:nvPr/>
        </p:nvSpPr>
        <p:spPr>
          <a:xfrm>
            <a:off x="1326456" y="5330723"/>
            <a:ext cx="7315017" cy="457429"/>
          </a:xfrm>
          <a:prstGeom prst="rect">
            <a:avLst/>
          </a:prstGeom>
          <a:noFill/>
          <a:ln/>
        </p:spPr>
        <p:txBody>
          <a:bodyPr wrap="square" lIns="0" tIns="0" rIns="0" bIns="0" rtlCol="0" anchor="t"/>
          <a:lstStyle/>
          <a:p>
            <a:pPr algn="l" indent="0" marL="0">
              <a:buNone/>
            </a:pPr>
            <a:r>
              <a:rPr lang="en-US" sz="2000" dirty="0">
                <a:solidFill>
                  <a:srgbClr val="FFFFFF"/>
                </a:solidFill>
                <a:latin typeface="Calibri" pitchFamily="34" charset="0"/>
                <a:ea typeface="Calibri" pitchFamily="34" charset="-122"/>
                <a:cs typeface="Calibri" pitchFamily="34" charset="-120"/>
              </a:rPr>
              <a:t>First horizon review: next quarter's leadership meeting</a:t>
            </a:r>
            <a:endParaRPr lang="en-US" sz="2000" dirty="0"/>
          </a:p>
        </p:txBody>
      </p:sp>
      <p:sp>
        <p:nvSpPr>
          <p:cNvPr id="25" name="Slide Number Placeholder 0"/>
          <p:cNvSpPr>
            <a:spLocks noGrp="1"/>
          </p:cNvSpPr>
          <p:nvPr>
            <p:ph type="sldNum" sz="quarter" idx="4294967295"/>
          </p:nvPr>
        </p:nvSpPr>
        <p:spPr>
          <a:xfrm>
            <a:off x="9505993" y="6355080"/>
            <a:ext cx="548640" cy="292608"/>
          </a:xfrm>
          <a:prstGeom prst="rect">
            <a:avLst/>
          </a:prstGeom>
          <a:extLst>
            <a:ext uri="{C572A759-6A51-4108-AA02-DFA0A04FC94B}">
              <ma14:wrappingTextBoxFlag xmlns:ma14="http://schemas.microsoft.com/office/mac/drawingml/2011/main" val="0"/>
            </a:ext>
          </a:extLst>
        </p:spPr>
        <p:txBody>
          <a:bodyPr/>
          <a:lstStyle>
            <a:lvl1pPr>
              <a:defRPr sz="1100">
                <a:solidFill>
                  <a:srgbClr val="FFFFFF"/>
                </a:solidFill>
                <a:latin typeface="Calibri"/>
                <a:ea typeface="Calibri"/>
                <a:cs typeface="Calibri"/>
              </a:defRPr>
            </a:lvl1pPr>
          </a:lstStyle>
          <a:p>
            <a:pPr algn="r"/>
            <a:fld id="{F7021451-1387-4CA6-816F-3879F97B5CBC}" type="slidenum">
              <a:rPr b="0" lang="en-US"/>
              <a:t>8</a:t>
            </a:fld>
            <a:endParaRPr lang="en-US"/>
          </a:p>
        </p:txBody>
      </p:sp>
    </p:spTree>
  </p:cSld>
  <p:clrMapOvr>
    <a:masterClrMapping/>
  </p:clrMapOvr>
</p:sld>
</file>

<file path=ppt/theme/theme1.xml><?xml version="1.0" encoding="utf-8"?>
<a:theme xmlns:a="http://schemas.openxmlformats.org/drawingml/2006/main" name="DayPilot 1">
  <a:themeElements>
    <a:clrScheme name="DayPilot 1">
      <a:dk1>
        <a:srgbClr val="16203A"/>
      </a:dk1>
      <a:lt1>
        <a:srgbClr val="FFFFFF"/>
      </a:lt1>
      <a:dk2>
        <a:srgbClr val="1B2A6B"/>
      </a:dk2>
      <a:lt2>
        <a:srgbClr val="E8EAF0"/>
      </a:lt2>
      <a:accent1>
        <a:srgbClr val="1B2A6B"/>
      </a:accent1>
      <a:accent2>
        <a:srgbClr val="0FA3B1"/>
      </a:accent2>
      <a:accent3>
        <a:srgbClr val="5B6474"/>
      </a:accent3>
      <a:accent4>
        <a:srgbClr val="1E7F4F"/>
      </a:accent4>
      <a:accent5>
        <a:srgbClr val="9A5B00"/>
      </a:accent5>
      <a:accent6>
        <a:srgbClr val="B3261E"/>
      </a:accent6>
      <a:hlink>
        <a:srgbClr val="0FA3B1"/>
      </a:hlink>
      <a:folHlink>
        <a:srgbClr val="5B6474"/>
      </a:folHlink>
    </a:clrScheme>
    <a:fontScheme name="DayPilot 1">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DayPilot</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Superintelligence: where we are and what comes next</dc:title>
  <dc:subject>daypilot:deck:59fdc48d-0a10-4a9a-a893-a2c87a21ce02</dc:subject>
  <dc:creator>DayPilot Presentations</dc:creator>
  <cp:lastModifiedBy>DayPilot Presentations</cp:lastModifiedBy>
  <cp:revision>1</cp:revision>
  <dcterms:created xsi:type="dcterms:W3CDTF">2026-10-04T16:25:56Z</dcterms:created>
  <dcterms:modified xsi:type="dcterms:W3CDTF">2026-10-04T16:25:56Z</dcterms:modified>
</cp:coreProperties>
</file>